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2" r:id="rId47"/>
    <p:sldId id="303" r:id="rId48"/>
    <p:sldId id="304" r:id="rId49"/>
    <p:sldId id="305" r:id="rId50"/>
    <p:sldId id="306" r:id="rId51"/>
    <p:sldId id="307" r:id="rId52"/>
    <p:sldId id="308" r:id="rId53"/>
    <p:sldId id="309"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60"/>
  </p:normalViewPr>
  <p:slideViewPr>
    <p:cSldViewPr snapToGrid="0">
      <p:cViewPr varScale="1">
        <p:scale>
          <a:sx n="83" d="100"/>
          <a:sy n="83" d="100"/>
        </p:scale>
        <p:origin x="70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2D16D22-5ED1-465B-83E5-FE6CA2D343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472787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D16D22-5ED1-465B-83E5-FE6CA2D343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1205224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D16D22-5ED1-465B-83E5-FE6CA2D343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1566857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D16D22-5ED1-465B-83E5-FE6CA2D3437B}" type="datetimeFigureOut">
              <a:rPr lang="en-US" smtClean="0"/>
              <a:t>5/29/2021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63232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D16D22-5ED1-465B-83E5-FE6CA2D3437B}" type="datetimeFigureOut">
              <a:rPr lang="en-US" smtClean="0"/>
              <a:t>5/29/2021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3352476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D16D22-5ED1-465B-83E5-FE6CA2D3437B}" type="datetimeFigureOut">
              <a:rPr lang="en-US" smtClean="0"/>
              <a:t>5/29/2021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13863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16D22-5ED1-465B-83E5-FE6CA2D3437B}" type="datetimeFigureOut">
              <a:rPr lang="en-US" smtClean="0"/>
              <a:t>5/29/2021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348415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D16D22-5ED1-465B-83E5-FE6CA2D3437B}" type="datetimeFigureOut">
              <a:rPr lang="en-US" smtClean="0"/>
              <a:t>5/29/2021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1324679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D16D22-5ED1-465B-83E5-FE6CA2D3437B}" type="datetimeFigureOut">
              <a:rPr lang="en-US" smtClean="0"/>
              <a:t>5/29/2021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244137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D16D22-5ED1-465B-83E5-FE6CA2D343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3499556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D16D22-5ED1-465B-83E5-FE6CA2D343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420BDB-CE47-43E7-A595-3D20742E4D39}" type="slidenum">
              <a:rPr lang="en-US" smtClean="0"/>
              <a:t>‹#›</a:t>
            </a:fld>
            <a:endParaRPr lang="en-US"/>
          </a:p>
        </p:txBody>
      </p:sp>
    </p:spTree>
    <p:extLst>
      <p:ext uri="{BB962C8B-B14F-4D97-AF65-F5344CB8AC3E}">
        <p14:creationId xmlns:p14="http://schemas.microsoft.com/office/powerpoint/2010/main" val="848541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16D22-5ED1-465B-83E5-FE6CA2D3437B}" type="datetimeFigureOut">
              <a:rPr lang="en-US" smtClean="0"/>
              <a:t>5/29/2021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420BDB-CE47-43E7-A595-3D20742E4D39}" type="slidenum">
              <a:rPr lang="en-US" smtClean="0"/>
              <a:t>‹#›</a:t>
            </a:fld>
            <a:endParaRPr lang="en-US"/>
          </a:p>
        </p:txBody>
      </p:sp>
    </p:spTree>
    <p:extLst>
      <p:ext uri="{BB962C8B-B14F-4D97-AF65-F5344CB8AC3E}">
        <p14:creationId xmlns:p14="http://schemas.microsoft.com/office/powerpoint/2010/main" val="3730355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3454" y="1214438"/>
            <a:ext cx="10945091" cy="2692544"/>
          </a:xfrm>
        </p:spPr>
        <p:txBody>
          <a:bodyPr>
            <a:normAutofit/>
          </a:bodyPr>
          <a:lstStyle/>
          <a:p>
            <a:r>
              <a:rPr lang="en-US" sz="5400" dirty="0" smtClean="0"/>
              <a:t>Scaling Relational Database Management Systems for Big Data Applications</a:t>
            </a:r>
            <a:endParaRPr lang="en-US" sz="5400" dirty="0"/>
          </a:p>
        </p:txBody>
      </p:sp>
      <p:sp>
        <p:nvSpPr>
          <p:cNvPr id="3" name="Subtitle 2"/>
          <p:cNvSpPr>
            <a:spLocks noGrp="1"/>
          </p:cNvSpPr>
          <p:nvPr>
            <p:ph type="subTitle" idx="1"/>
          </p:nvPr>
        </p:nvSpPr>
        <p:spPr>
          <a:xfrm>
            <a:off x="1523999" y="3906982"/>
            <a:ext cx="9144000" cy="1655762"/>
          </a:xfrm>
        </p:spPr>
        <p:txBody>
          <a:bodyPr>
            <a:normAutofit/>
          </a:bodyPr>
          <a:lstStyle/>
          <a:p>
            <a:endParaRPr lang="en-US" sz="3600" dirty="0" smtClean="0"/>
          </a:p>
          <a:p>
            <a:r>
              <a:rPr lang="en-US" sz="3600" dirty="0" smtClean="0"/>
              <a:t>Collected by Ali </a:t>
            </a:r>
            <a:r>
              <a:rPr lang="en-US" sz="3600" dirty="0" err="1" smtClean="0"/>
              <a:t>Jafari</a:t>
            </a:r>
            <a:endParaRPr lang="en-US" sz="3600" dirty="0"/>
          </a:p>
        </p:txBody>
      </p:sp>
    </p:spTree>
    <p:extLst>
      <p:ext uri="{BB962C8B-B14F-4D97-AF65-F5344CB8AC3E}">
        <p14:creationId xmlns:p14="http://schemas.microsoft.com/office/powerpoint/2010/main" val="886884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What is Big Data?</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Big </a:t>
            </a:r>
            <a:r>
              <a:rPr lang="en-US" sz="3200" dirty="0"/>
              <a:t>data is a field that treats ways to analyze, systematically extract information from, or otherwise deal with data sets that are too large </a:t>
            </a:r>
            <a:r>
              <a:rPr lang="en-US" sz="3200" dirty="0" smtClean="0"/>
              <a:t>to </a:t>
            </a:r>
            <a:r>
              <a:rPr lang="en-US" sz="3200" dirty="0"/>
              <a:t>be dealt with by traditional data-processing application software.</a:t>
            </a:r>
          </a:p>
        </p:txBody>
      </p:sp>
    </p:spTree>
    <p:extLst>
      <p:ext uri="{BB962C8B-B14F-4D97-AF65-F5344CB8AC3E}">
        <p14:creationId xmlns:p14="http://schemas.microsoft.com/office/powerpoint/2010/main" val="910449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The Three Vs of Big Data</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Volume</a:t>
            </a:r>
            <a:endParaRPr lang="en-US" sz="3200" dirty="0"/>
          </a:p>
          <a:p>
            <a:pPr algn="just">
              <a:lnSpc>
                <a:spcPct val="150000"/>
              </a:lnSpc>
            </a:pPr>
            <a:r>
              <a:rPr lang="en-US" sz="3200" dirty="0" smtClean="0"/>
              <a:t>Velocity</a:t>
            </a:r>
            <a:endParaRPr lang="en-US" sz="3200" dirty="0"/>
          </a:p>
          <a:p>
            <a:pPr algn="just">
              <a:lnSpc>
                <a:spcPct val="150000"/>
              </a:lnSpc>
            </a:pPr>
            <a:r>
              <a:rPr lang="en-US" sz="3200" dirty="0" smtClean="0"/>
              <a:t>Variety</a:t>
            </a:r>
            <a:endParaRPr lang="en-US" sz="3200" dirty="0"/>
          </a:p>
        </p:txBody>
      </p:sp>
    </p:spTree>
    <p:extLst>
      <p:ext uri="{BB962C8B-B14F-4D97-AF65-F5344CB8AC3E}">
        <p14:creationId xmlns:p14="http://schemas.microsoft.com/office/powerpoint/2010/main" val="1108393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Volume</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With </a:t>
            </a:r>
            <a:r>
              <a:rPr lang="en-US" sz="3200" dirty="0"/>
              <a:t>big data, you’ll have to process high volumes </a:t>
            </a:r>
            <a:r>
              <a:rPr lang="en-US" sz="3200" dirty="0" smtClean="0"/>
              <a:t>of data</a:t>
            </a:r>
            <a:r>
              <a:rPr lang="en-US" sz="3200" dirty="0"/>
              <a:t>. </a:t>
            </a:r>
            <a:r>
              <a:rPr lang="en-US" sz="3200" dirty="0" smtClean="0"/>
              <a:t>For </a:t>
            </a:r>
            <a:r>
              <a:rPr lang="en-US" sz="3200" dirty="0"/>
              <a:t>some organizations, this might be tens of terabytes of data. For others, it may be hundreds of petabytes.</a:t>
            </a:r>
          </a:p>
        </p:txBody>
      </p:sp>
    </p:spTree>
    <p:extLst>
      <p:ext uri="{BB962C8B-B14F-4D97-AF65-F5344CB8AC3E}">
        <p14:creationId xmlns:p14="http://schemas.microsoft.com/office/powerpoint/2010/main" val="3904802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Velocity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Velocity is the measure of how fast the data is coming in. </a:t>
            </a:r>
            <a:r>
              <a:rPr lang="en-US" sz="3200" dirty="0" smtClean="0"/>
              <a:t>Services like Facebook have </a:t>
            </a:r>
            <a:r>
              <a:rPr lang="en-US" sz="3200" dirty="0"/>
              <a:t>to handle a tsunami of </a:t>
            </a:r>
            <a:r>
              <a:rPr lang="en-US" sz="3200" dirty="0" smtClean="0"/>
              <a:t>data </a:t>
            </a:r>
            <a:r>
              <a:rPr lang="en-US" sz="3200" dirty="0"/>
              <a:t>every day. </a:t>
            </a:r>
            <a:r>
              <a:rPr lang="en-US" sz="3200" dirty="0" smtClean="0"/>
              <a:t>They have </a:t>
            </a:r>
            <a:r>
              <a:rPr lang="en-US" sz="3200" dirty="0"/>
              <a:t>to ingest it all, process it, </a:t>
            </a:r>
            <a:r>
              <a:rPr lang="en-US" sz="3200" dirty="0" smtClean="0"/>
              <a:t>record </a:t>
            </a:r>
            <a:r>
              <a:rPr lang="en-US" sz="3200" dirty="0"/>
              <a:t>it, and somehow, later, be able to retrieve it.</a:t>
            </a:r>
          </a:p>
        </p:txBody>
      </p:sp>
    </p:spTree>
    <p:extLst>
      <p:ext uri="{BB962C8B-B14F-4D97-AF65-F5344CB8AC3E}">
        <p14:creationId xmlns:p14="http://schemas.microsoft.com/office/powerpoint/2010/main" val="3472644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Variety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Variety refers to the many types of data that are available. Traditional data types were structured and </a:t>
            </a:r>
            <a:r>
              <a:rPr lang="en-US" sz="3200" dirty="0" smtClean="0"/>
              <a:t>usually fit in </a:t>
            </a:r>
            <a:r>
              <a:rPr lang="en-US" sz="3200" dirty="0"/>
              <a:t>a </a:t>
            </a:r>
            <a:r>
              <a:rPr lang="en-US" sz="3200" dirty="0" smtClean="0"/>
              <a:t>single relational </a:t>
            </a:r>
            <a:r>
              <a:rPr lang="en-US" sz="3200" dirty="0"/>
              <a:t>database. With the rise of big data, data comes in new unstructured </a:t>
            </a:r>
            <a:r>
              <a:rPr lang="en-US" sz="3200" dirty="0" smtClean="0"/>
              <a:t>types, as well as traditional structured types.</a:t>
            </a:r>
            <a:endParaRPr lang="en-US" sz="3200" dirty="0"/>
          </a:p>
        </p:txBody>
      </p:sp>
    </p:spTree>
    <p:extLst>
      <p:ext uri="{BB962C8B-B14F-4D97-AF65-F5344CB8AC3E}">
        <p14:creationId xmlns:p14="http://schemas.microsoft.com/office/powerpoint/2010/main" val="2903587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Scalability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Scalability is the property of a system to handle a growing amount of work by adding resources to the system</a:t>
            </a:r>
            <a:r>
              <a:rPr lang="en-US" sz="3200" dirty="0" smtClean="0"/>
              <a:t>.</a:t>
            </a:r>
          </a:p>
          <a:p>
            <a:pPr algn="just">
              <a:lnSpc>
                <a:spcPct val="150000"/>
              </a:lnSpc>
            </a:pPr>
            <a:endParaRPr lang="en-US" sz="3200" dirty="0"/>
          </a:p>
          <a:p>
            <a:pPr algn="just">
              <a:lnSpc>
                <a:spcPct val="150000"/>
              </a:lnSpc>
            </a:pPr>
            <a:r>
              <a:rPr lang="en-US" sz="3200" dirty="0"/>
              <a:t>In computing, scalability is a characteristic of computers, networks, algorithms, </a:t>
            </a:r>
            <a:r>
              <a:rPr lang="en-US" sz="3200" dirty="0" smtClean="0"/>
              <a:t>protocols</a:t>
            </a:r>
            <a:r>
              <a:rPr lang="en-US" sz="3200" dirty="0"/>
              <a:t>, </a:t>
            </a:r>
            <a:r>
              <a:rPr lang="en-US" sz="3200" dirty="0" smtClean="0"/>
              <a:t>and </a:t>
            </a:r>
            <a:r>
              <a:rPr lang="en-US" sz="3200" dirty="0"/>
              <a:t>applications.</a:t>
            </a:r>
          </a:p>
        </p:txBody>
      </p:sp>
    </p:spTree>
    <p:extLst>
      <p:ext uri="{BB962C8B-B14F-4D97-AF65-F5344CB8AC3E}">
        <p14:creationId xmlns:p14="http://schemas.microsoft.com/office/powerpoint/2010/main" val="347700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Types of Scaling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Vertical Scaling (Scaling Up)</a:t>
            </a:r>
          </a:p>
          <a:p>
            <a:pPr algn="just">
              <a:lnSpc>
                <a:spcPct val="150000"/>
              </a:lnSpc>
            </a:pPr>
            <a:r>
              <a:rPr lang="en-US" sz="3200" dirty="0" smtClean="0"/>
              <a:t>Horizontal Scaling (Scaling Out)</a:t>
            </a:r>
            <a:endParaRPr lang="en-US" sz="3200" dirty="0"/>
          </a:p>
        </p:txBody>
      </p:sp>
    </p:spTree>
    <p:extLst>
      <p:ext uri="{BB962C8B-B14F-4D97-AF65-F5344CB8AC3E}">
        <p14:creationId xmlns:p14="http://schemas.microsoft.com/office/powerpoint/2010/main" val="2079221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Vertical Scaling</a:t>
            </a:r>
            <a:endParaRPr lang="en-US" dirty="0"/>
          </a:p>
        </p:txBody>
      </p:sp>
      <p:sp>
        <p:nvSpPr>
          <p:cNvPr id="3" name="Content Placeholder 2"/>
          <p:cNvSpPr>
            <a:spLocks noGrp="1"/>
          </p:cNvSpPr>
          <p:nvPr>
            <p:ph idx="1"/>
          </p:nvPr>
        </p:nvSpPr>
        <p:spPr/>
        <p:txBody>
          <a:bodyPr>
            <a:normAutofit/>
          </a:bodyPr>
          <a:lstStyle/>
          <a:p>
            <a:pPr marL="0" indent="0" algn="just">
              <a:lnSpc>
                <a:spcPct val="150000"/>
              </a:lnSpc>
              <a:buNone/>
            </a:pPr>
            <a:endParaRPr lang="en-US" sz="3200" dirty="0" smtClean="0"/>
          </a:p>
          <a:p>
            <a:pPr algn="just">
              <a:lnSpc>
                <a:spcPct val="150000"/>
              </a:lnSpc>
            </a:pPr>
            <a:r>
              <a:rPr lang="en-US" sz="3200" dirty="0" smtClean="0"/>
              <a:t>Vertical Scaling refers to scaling by adding more power (e.g. CPU, RAM) to an existing machine.</a:t>
            </a:r>
          </a:p>
          <a:p>
            <a:pPr algn="just">
              <a:lnSpc>
                <a:spcPct val="150000"/>
              </a:lnSpc>
            </a:pPr>
            <a:endParaRPr lang="en-US" sz="3200" dirty="0"/>
          </a:p>
        </p:txBody>
      </p:sp>
    </p:spTree>
    <p:extLst>
      <p:ext uri="{BB962C8B-B14F-4D97-AF65-F5344CB8AC3E}">
        <p14:creationId xmlns:p14="http://schemas.microsoft.com/office/powerpoint/2010/main" val="3038163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Vertical Scaling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Vertical scaling is limited to the capacity of one machine, scaling beyond that capacity can involve downtime and has an upper hard limit, i.e. the scale of the hardware on which you are currently running.</a:t>
            </a:r>
          </a:p>
        </p:txBody>
      </p:sp>
    </p:spTree>
    <p:extLst>
      <p:ext uri="{BB962C8B-B14F-4D97-AF65-F5344CB8AC3E}">
        <p14:creationId xmlns:p14="http://schemas.microsoft.com/office/powerpoint/2010/main" val="1074870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Horizontal Scaling</a:t>
            </a:r>
            <a:endParaRPr lang="en-US" dirty="0"/>
          </a:p>
        </p:txBody>
      </p:sp>
      <p:sp>
        <p:nvSpPr>
          <p:cNvPr id="3" name="Content Placeholder 2"/>
          <p:cNvSpPr>
            <a:spLocks noGrp="1"/>
          </p:cNvSpPr>
          <p:nvPr>
            <p:ph idx="1"/>
          </p:nvPr>
        </p:nvSpPr>
        <p:spPr/>
        <p:txBody>
          <a:bodyPr>
            <a:normAutofit/>
          </a:bodyPr>
          <a:lstStyle/>
          <a:p>
            <a:pPr algn="just">
              <a:lnSpc>
                <a:spcPct val="150000"/>
              </a:lnSpc>
            </a:pPr>
            <a:endParaRPr lang="en-US" sz="3200" dirty="0" smtClean="0"/>
          </a:p>
          <a:p>
            <a:pPr algn="just">
              <a:lnSpc>
                <a:spcPct val="150000"/>
              </a:lnSpc>
            </a:pPr>
            <a:r>
              <a:rPr lang="en-US" sz="3200" dirty="0" smtClean="0"/>
              <a:t>Horizontal Scaling </a:t>
            </a:r>
            <a:r>
              <a:rPr lang="en-US" sz="3200" dirty="0"/>
              <a:t>means scaling by adding more machines to your pool of </a:t>
            </a:r>
            <a:r>
              <a:rPr lang="en-US" sz="3200" dirty="0" smtClean="0"/>
              <a:t>resources.</a:t>
            </a:r>
            <a:endParaRPr lang="en-US" sz="3200" dirty="0"/>
          </a:p>
        </p:txBody>
      </p:sp>
    </p:spTree>
    <p:extLst>
      <p:ext uri="{BB962C8B-B14F-4D97-AF65-F5344CB8AC3E}">
        <p14:creationId xmlns:p14="http://schemas.microsoft.com/office/powerpoint/2010/main" val="3672433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Horizontal Scaling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In theory, adding more machines to the existing pool means you are not limited to the capacity of a single unit, making it possible to scale with less downtime.</a:t>
            </a:r>
          </a:p>
        </p:txBody>
      </p:sp>
    </p:spTree>
    <p:extLst>
      <p:ext uri="{BB962C8B-B14F-4D97-AF65-F5344CB8AC3E}">
        <p14:creationId xmlns:p14="http://schemas.microsoft.com/office/powerpoint/2010/main" val="2265946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Types of Scaling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One of the fundamental differences between </a:t>
            </a:r>
            <a:r>
              <a:rPr lang="en-US" sz="3200" dirty="0" smtClean="0"/>
              <a:t>horizontal scaling and vertical scaling </a:t>
            </a:r>
            <a:r>
              <a:rPr lang="en-US" sz="3200" dirty="0"/>
              <a:t>is that horizontal scaling requires breaking a sequential piece of logic into smaller </a:t>
            </a:r>
            <a:r>
              <a:rPr lang="en-US" sz="3200" dirty="0" smtClean="0"/>
              <a:t>pieces, </a:t>
            </a:r>
            <a:r>
              <a:rPr lang="en-US" sz="3200" dirty="0"/>
              <a:t>so that they can be executed in parallel across multiple machines.</a:t>
            </a:r>
          </a:p>
        </p:txBody>
      </p:sp>
    </p:spTree>
    <p:extLst>
      <p:ext uri="{BB962C8B-B14F-4D97-AF65-F5344CB8AC3E}">
        <p14:creationId xmlns:p14="http://schemas.microsoft.com/office/powerpoint/2010/main" val="3064190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Types of Scaling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In many respects, vertical scaling is easier because the logic really doesn’t need to change. Rather, you’re just running the same code on higher-spec machines.</a:t>
            </a:r>
          </a:p>
        </p:txBody>
      </p:sp>
    </p:spTree>
    <p:extLst>
      <p:ext uri="{BB962C8B-B14F-4D97-AF65-F5344CB8AC3E}">
        <p14:creationId xmlns:p14="http://schemas.microsoft.com/office/powerpoint/2010/main" val="3728352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Types of Scaling</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792721"/>
            <a:ext cx="10058400" cy="4353635"/>
          </a:xfrm>
          <a:prstGeom prst="rect">
            <a:avLst/>
          </a:prstGeom>
        </p:spPr>
      </p:pic>
    </p:spTree>
    <p:extLst>
      <p:ext uri="{BB962C8B-B14F-4D97-AF65-F5344CB8AC3E}">
        <p14:creationId xmlns:p14="http://schemas.microsoft.com/office/powerpoint/2010/main" val="731500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Scalability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Any application or website that sees significant growth will eventually need to scale in order to accommodate increases in traffic. For data-driven applications and websites, it’s critical that scaling is done in a way that ensures the security and integrity of their data. </a:t>
            </a:r>
          </a:p>
        </p:txBody>
      </p:sp>
    </p:spTree>
    <p:extLst>
      <p:ext uri="{BB962C8B-B14F-4D97-AF65-F5344CB8AC3E}">
        <p14:creationId xmlns:p14="http://schemas.microsoft.com/office/powerpoint/2010/main" val="2756324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Scalability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It can be difficult to predict how popular a website or application will become or how long it will maintain that popularity, which is why some organizations choose a database architecture that allows them to scale their databases dynamically.</a:t>
            </a:r>
          </a:p>
        </p:txBody>
      </p:sp>
    </p:spTree>
    <p:extLst>
      <p:ext uri="{BB962C8B-B14F-4D97-AF65-F5344CB8AC3E}">
        <p14:creationId xmlns:p14="http://schemas.microsoft.com/office/powerpoint/2010/main" val="3795751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err="1"/>
              <a:t>Sharding</a:t>
            </a:r>
            <a:r>
              <a:rPr lang="en-US" sz="3200" dirty="0"/>
              <a:t> is a database architecture pattern related to horizontal </a:t>
            </a:r>
            <a:r>
              <a:rPr lang="en-US" sz="3200" dirty="0" smtClean="0"/>
              <a:t>scaling, </a:t>
            </a:r>
            <a:r>
              <a:rPr lang="en-US" sz="3200" dirty="0"/>
              <a:t>the practice of separating one table’s rows into multiple different tables, known as partitions.</a:t>
            </a:r>
          </a:p>
        </p:txBody>
      </p:sp>
    </p:spTree>
    <p:extLst>
      <p:ext uri="{BB962C8B-B14F-4D97-AF65-F5344CB8AC3E}">
        <p14:creationId xmlns:p14="http://schemas.microsoft.com/office/powerpoint/2010/main" val="650582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Each partition has the same schema and columns, but also entirely different rows. Likewise, the data held in </a:t>
            </a:r>
            <a:r>
              <a:rPr lang="en-US" sz="3200" dirty="0" smtClean="0"/>
              <a:t>each partition </a:t>
            </a:r>
            <a:r>
              <a:rPr lang="en-US" sz="3200" dirty="0"/>
              <a:t>is unique and independent of the data held in other partitions.</a:t>
            </a:r>
          </a:p>
        </p:txBody>
      </p:sp>
    </p:spTree>
    <p:extLst>
      <p:ext uri="{BB962C8B-B14F-4D97-AF65-F5344CB8AC3E}">
        <p14:creationId xmlns:p14="http://schemas.microsoft.com/office/powerpoint/2010/main" val="1762941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3690" y="1924030"/>
            <a:ext cx="6244620" cy="4518333"/>
          </a:xfrm>
          <a:prstGeom prst="rect">
            <a:avLst/>
          </a:prstGeom>
        </p:spPr>
      </p:pic>
    </p:spTree>
    <p:extLst>
      <p:ext uri="{BB962C8B-B14F-4D97-AF65-F5344CB8AC3E}">
        <p14:creationId xmlns:p14="http://schemas.microsoft.com/office/powerpoint/2010/main" val="1356562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0362" y="1769047"/>
            <a:ext cx="7031275" cy="4858044"/>
          </a:xfrm>
          <a:prstGeom prst="rect">
            <a:avLst/>
          </a:prstGeom>
        </p:spPr>
      </p:pic>
    </p:spTree>
    <p:extLst>
      <p:ext uri="{BB962C8B-B14F-4D97-AF65-F5344CB8AC3E}">
        <p14:creationId xmlns:p14="http://schemas.microsoft.com/office/powerpoint/2010/main" val="1961293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01024" y="1839185"/>
            <a:ext cx="4189952" cy="4806378"/>
          </a:xfrm>
          <a:prstGeom prst="rect">
            <a:avLst/>
          </a:prstGeom>
        </p:spPr>
      </p:pic>
    </p:spTree>
    <p:extLst>
      <p:ext uri="{BB962C8B-B14F-4D97-AF65-F5344CB8AC3E}">
        <p14:creationId xmlns:p14="http://schemas.microsoft.com/office/powerpoint/2010/main" val="941699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err="1"/>
              <a:t>Sharding</a:t>
            </a:r>
            <a:r>
              <a:rPr lang="en-US" sz="3200" dirty="0"/>
              <a:t> involves breaking up </a:t>
            </a:r>
            <a:r>
              <a:rPr lang="en-US" sz="3200" dirty="0" smtClean="0"/>
              <a:t>the </a:t>
            </a:r>
            <a:r>
              <a:rPr lang="en-US" sz="3200" dirty="0"/>
              <a:t>data into two or more smaller chunks, called logical shards. The logical shards are then distributed across separate database nodes, </a:t>
            </a:r>
            <a:r>
              <a:rPr lang="en-US" sz="3200" dirty="0" smtClean="0"/>
              <a:t>referred to as physical shards, each of which </a:t>
            </a:r>
            <a:r>
              <a:rPr lang="en-US" sz="3200" dirty="0"/>
              <a:t>can hold multiple logical shards.</a:t>
            </a:r>
          </a:p>
        </p:txBody>
      </p:sp>
    </p:spTree>
    <p:extLst>
      <p:ext uri="{BB962C8B-B14F-4D97-AF65-F5344CB8AC3E}">
        <p14:creationId xmlns:p14="http://schemas.microsoft.com/office/powerpoint/2010/main" val="953260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Database shards exemplify a shared-nothing architecture</a:t>
            </a:r>
            <a:r>
              <a:rPr lang="en-US" sz="3200" dirty="0" smtClean="0"/>
              <a:t>.</a:t>
            </a:r>
          </a:p>
          <a:p>
            <a:pPr algn="just">
              <a:lnSpc>
                <a:spcPct val="150000"/>
              </a:lnSpc>
            </a:pPr>
            <a:endParaRPr lang="en-US" sz="3200" dirty="0"/>
          </a:p>
          <a:p>
            <a:pPr algn="just">
              <a:lnSpc>
                <a:spcPct val="150000"/>
              </a:lnSpc>
            </a:pPr>
            <a:r>
              <a:rPr lang="en-US" sz="3200" dirty="0"/>
              <a:t>This means that the shards are </a:t>
            </a:r>
            <a:r>
              <a:rPr lang="en-US" sz="3200" dirty="0" smtClean="0"/>
              <a:t>autonomous, </a:t>
            </a:r>
            <a:r>
              <a:rPr lang="en-US" sz="3200" dirty="0"/>
              <a:t>they don’t share any of the same data or computing </a:t>
            </a:r>
            <a:r>
              <a:rPr lang="en-US" sz="3200" dirty="0" smtClean="0"/>
              <a:t>resources.</a:t>
            </a:r>
            <a:endParaRPr lang="en-US" sz="3200" dirty="0"/>
          </a:p>
        </p:txBody>
      </p:sp>
    </p:spTree>
    <p:extLst>
      <p:ext uri="{BB962C8B-B14F-4D97-AF65-F5344CB8AC3E}">
        <p14:creationId xmlns:p14="http://schemas.microsoft.com/office/powerpoint/2010/main" val="1909655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Often, </a:t>
            </a:r>
            <a:r>
              <a:rPr lang="en-US" sz="3200" dirty="0" err="1"/>
              <a:t>sharding</a:t>
            </a:r>
            <a:r>
              <a:rPr lang="en-US" sz="3200" dirty="0"/>
              <a:t> is implemented at the application level, meaning that the application includes code that defines which shard to transmit reads and writes to.</a:t>
            </a:r>
          </a:p>
        </p:txBody>
      </p:sp>
    </p:spTree>
    <p:extLst>
      <p:ext uri="{BB962C8B-B14F-4D97-AF65-F5344CB8AC3E}">
        <p14:creationId xmlns:p14="http://schemas.microsoft.com/office/powerpoint/2010/main" val="117321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Database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However, some database management systems have </a:t>
            </a:r>
            <a:r>
              <a:rPr lang="en-US" sz="3200" dirty="0" err="1"/>
              <a:t>sharding</a:t>
            </a:r>
            <a:r>
              <a:rPr lang="en-US" sz="3200" dirty="0"/>
              <a:t> capabilities built in, allowing you to implement </a:t>
            </a:r>
            <a:r>
              <a:rPr lang="en-US" sz="3200" dirty="0" err="1"/>
              <a:t>sharding</a:t>
            </a:r>
            <a:r>
              <a:rPr lang="en-US" sz="3200" dirty="0"/>
              <a:t> directly at the database level.</a:t>
            </a:r>
          </a:p>
        </p:txBody>
      </p:sp>
    </p:spTree>
    <p:extLst>
      <p:ext uri="{BB962C8B-B14F-4D97-AF65-F5344CB8AC3E}">
        <p14:creationId xmlns:p14="http://schemas.microsoft.com/office/powerpoint/2010/main" val="2789014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err="1"/>
              <a:t>Sharding</a:t>
            </a:r>
            <a:r>
              <a:rPr lang="en-US" dirty="0"/>
              <a:t> Architectures</a:t>
            </a:r>
          </a:p>
        </p:txBody>
      </p:sp>
      <p:sp>
        <p:nvSpPr>
          <p:cNvPr id="3" name="Content Placeholder 2"/>
          <p:cNvSpPr>
            <a:spLocks noGrp="1"/>
          </p:cNvSpPr>
          <p:nvPr>
            <p:ph idx="1"/>
          </p:nvPr>
        </p:nvSpPr>
        <p:spPr/>
        <p:txBody>
          <a:bodyPr>
            <a:normAutofit/>
          </a:bodyPr>
          <a:lstStyle/>
          <a:p>
            <a:pPr algn="just">
              <a:lnSpc>
                <a:spcPct val="150000"/>
              </a:lnSpc>
            </a:pPr>
            <a:r>
              <a:rPr lang="en-US" sz="3200" dirty="0"/>
              <a:t>Once you’ve decided to shard your database, the next thing you need to figure out is how you’ll go about doing so</a:t>
            </a:r>
            <a:r>
              <a:rPr lang="en-US" sz="3200" dirty="0" smtClean="0"/>
              <a:t>.</a:t>
            </a:r>
          </a:p>
        </p:txBody>
      </p:sp>
    </p:spTree>
    <p:extLst>
      <p:ext uri="{BB962C8B-B14F-4D97-AF65-F5344CB8AC3E}">
        <p14:creationId xmlns:p14="http://schemas.microsoft.com/office/powerpoint/2010/main" val="1212971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err="1"/>
              <a:t>Sharding</a:t>
            </a:r>
            <a:r>
              <a:rPr lang="en-US" dirty="0"/>
              <a:t> Architectures</a:t>
            </a:r>
          </a:p>
        </p:txBody>
      </p:sp>
      <p:sp>
        <p:nvSpPr>
          <p:cNvPr id="3" name="Content Placeholder 2"/>
          <p:cNvSpPr>
            <a:spLocks noGrp="1"/>
          </p:cNvSpPr>
          <p:nvPr>
            <p:ph idx="1"/>
          </p:nvPr>
        </p:nvSpPr>
        <p:spPr/>
        <p:txBody>
          <a:bodyPr>
            <a:normAutofit/>
          </a:bodyPr>
          <a:lstStyle/>
          <a:p>
            <a:pPr algn="just">
              <a:lnSpc>
                <a:spcPct val="150000"/>
              </a:lnSpc>
            </a:pPr>
            <a:r>
              <a:rPr lang="en-US" sz="3200" dirty="0"/>
              <a:t>When running queries or distributing incoming data to </a:t>
            </a:r>
            <a:r>
              <a:rPr lang="en-US" sz="3200" dirty="0" err="1"/>
              <a:t>sharded</a:t>
            </a:r>
            <a:r>
              <a:rPr lang="en-US" sz="3200" dirty="0"/>
              <a:t> tables or databases, it’s crucial that the data goes to the correct shard.</a:t>
            </a:r>
          </a:p>
          <a:p>
            <a:pPr algn="just">
              <a:lnSpc>
                <a:spcPct val="150000"/>
              </a:lnSpc>
            </a:pPr>
            <a:endParaRPr lang="en-US" sz="3200" dirty="0"/>
          </a:p>
        </p:txBody>
      </p:sp>
    </p:spTree>
    <p:extLst>
      <p:ext uri="{BB962C8B-B14F-4D97-AF65-F5344CB8AC3E}">
        <p14:creationId xmlns:p14="http://schemas.microsoft.com/office/powerpoint/2010/main" val="913267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err="1"/>
              <a:t>Sharding</a:t>
            </a:r>
            <a:r>
              <a:rPr lang="en-US" dirty="0"/>
              <a:t> Architectures</a:t>
            </a:r>
          </a:p>
        </p:txBody>
      </p:sp>
      <p:sp>
        <p:nvSpPr>
          <p:cNvPr id="3" name="Content Placeholder 2"/>
          <p:cNvSpPr>
            <a:spLocks noGrp="1"/>
          </p:cNvSpPr>
          <p:nvPr>
            <p:ph idx="1"/>
          </p:nvPr>
        </p:nvSpPr>
        <p:spPr/>
        <p:txBody>
          <a:bodyPr>
            <a:normAutofit/>
          </a:bodyPr>
          <a:lstStyle/>
          <a:p>
            <a:pPr algn="just">
              <a:lnSpc>
                <a:spcPct val="150000"/>
              </a:lnSpc>
            </a:pPr>
            <a:r>
              <a:rPr lang="en-US" sz="3200" dirty="0"/>
              <a:t>Otherwise, it could result in lost data or painfully slow queries.</a:t>
            </a:r>
          </a:p>
        </p:txBody>
      </p:sp>
    </p:spTree>
    <p:extLst>
      <p:ext uri="{BB962C8B-B14F-4D97-AF65-F5344CB8AC3E}">
        <p14:creationId xmlns:p14="http://schemas.microsoft.com/office/powerpoint/2010/main" val="3158831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Key-Based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Key-based </a:t>
            </a:r>
            <a:r>
              <a:rPr lang="en-US" sz="3200" dirty="0" err="1"/>
              <a:t>sharding</a:t>
            </a:r>
            <a:r>
              <a:rPr lang="en-US" sz="3200" dirty="0"/>
              <a:t>, also known as </a:t>
            </a:r>
            <a:r>
              <a:rPr lang="en-US" sz="3200" dirty="0" smtClean="0"/>
              <a:t>hash-based </a:t>
            </a:r>
            <a:r>
              <a:rPr lang="en-US" sz="3200" dirty="0" err="1"/>
              <a:t>sharding</a:t>
            </a:r>
            <a:r>
              <a:rPr lang="en-US" sz="3200" dirty="0"/>
              <a:t>, involves using </a:t>
            </a:r>
            <a:r>
              <a:rPr lang="en-US" sz="3200" dirty="0" smtClean="0"/>
              <a:t>the value of some field(s) </a:t>
            </a:r>
            <a:r>
              <a:rPr lang="en-US" sz="3200" dirty="0"/>
              <a:t>taken </a:t>
            </a:r>
            <a:r>
              <a:rPr lang="en-US" sz="3200" dirty="0" smtClean="0"/>
              <a:t>from data, </a:t>
            </a:r>
            <a:r>
              <a:rPr lang="en-US" sz="3200" dirty="0"/>
              <a:t>such as a customer’s ID number, a client application’s IP address, </a:t>
            </a:r>
            <a:r>
              <a:rPr lang="en-US" sz="3200" dirty="0" smtClean="0"/>
              <a:t>or a </a:t>
            </a:r>
            <a:r>
              <a:rPr lang="en-US" sz="3200" dirty="0"/>
              <a:t>ZIP code</a:t>
            </a:r>
            <a:r>
              <a:rPr lang="en-US" sz="3200" dirty="0" smtClean="0"/>
              <a:t>, </a:t>
            </a:r>
            <a:r>
              <a:rPr lang="en-US" sz="3200" dirty="0"/>
              <a:t>and plugging </a:t>
            </a:r>
            <a:r>
              <a:rPr lang="en-US" sz="3200" dirty="0" smtClean="0"/>
              <a:t>that value </a:t>
            </a:r>
            <a:r>
              <a:rPr lang="en-US" sz="3200" dirty="0"/>
              <a:t>into a hash function to determine which shard the </a:t>
            </a:r>
            <a:r>
              <a:rPr lang="en-US" sz="3200" dirty="0" smtClean="0"/>
              <a:t>data </a:t>
            </a:r>
            <a:r>
              <a:rPr lang="en-US" sz="3200" dirty="0"/>
              <a:t>should go to.</a:t>
            </a:r>
          </a:p>
        </p:txBody>
      </p:sp>
    </p:spTree>
    <p:extLst>
      <p:ext uri="{BB962C8B-B14F-4D97-AF65-F5344CB8AC3E}">
        <p14:creationId xmlns:p14="http://schemas.microsoft.com/office/powerpoint/2010/main" val="4087567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Key-Based </a:t>
            </a:r>
            <a:r>
              <a:rPr lang="en-US" dirty="0" err="1" smtClean="0"/>
              <a:t>Sharding</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58404" y="1690688"/>
            <a:ext cx="6875191" cy="4991412"/>
          </a:xfrm>
          <a:prstGeom prst="rect">
            <a:avLst/>
          </a:prstGeom>
        </p:spPr>
      </p:pic>
    </p:spTree>
    <p:extLst>
      <p:ext uri="{BB962C8B-B14F-4D97-AF65-F5344CB8AC3E}">
        <p14:creationId xmlns:p14="http://schemas.microsoft.com/office/powerpoint/2010/main" val="2690280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Key-Based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To ensure that entries are placed in the correct shards and in a consistent manner, the values entered into the hash function should all come from the same column</a:t>
            </a:r>
            <a:r>
              <a:rPr lang="en-US" sz="3200" dirty="0" smtClean="0"/>
              <a:t>.</a:t>
            </a:r>
          </a:p>
          <a:p>
            <a:pPr algn="just">
              <a:lnSpc>
                <a:spcPct val="150000"/>
              </a:lnSpc>
            </a:pPr>
            <a:endParaRPr lang="en-US" sz="3200" dirty="0" smtClean="0"/>
          </a:p>
          <a:p>
            <a:pPr algn="just">
              <a:lnSpc>
                <a:spcPct val="150000"/>
              </a:lnSpc>
            </a:pPr>
            <a:r>
              <a:rPr lang="en-US" sz="3200" dirty="0"/>
              <a:t>This column is known as a shard key.</a:t>
            </a:r>
          </a:p>
        </p:txBody>
      </p:sp>
    </p:spTree>
    <p:extLst>
      <p:ext uri="{BB962C8B-B14F-4D97-AF65-F5344CB8AC3E}">
        <p14:creationId xmlns:p14="http://schemas.microsoft.com/office/powerpoint/2010/main" val="4121764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Key-Based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To ensure that entries are placed in the correct shards and in a consistent manner, the values entered into the hash function should all come from the same column</a:t>
            </a:r>
            <a:r>
              <a:rPr lang="en-US" sz="3200" dirty="0" smtClean="0"/>
              <a:t>.</a:t>
            </a:r>
          </a:p>
          <a:p>
            <a:pPr algn="just">
              <a:lnSpc>
                <a:spcPct val="150000"/>
              </a:lnSpc>
            </a:pPr>
            <a:endParaRPr lang="en-US" sz="3200" dirty="0" smtClean="0"/>
          </a:p>
          <a:p>
            <a:pPr algn="just">
              <a:lnSpc>
                <a:spcPct val="150000"/>
              </a:lnSpc>
            </a:pPr>
            <a:r>
              <a:rPr lang="en-US" sz="3200" dirty="0"/>
              <a:t>This column is known as a shard key.</a:t>
            </a:r>
          </a:p>
        </p:txBody>
      </p:sp>
    </p:spTree>
    <p:extLst>
      <p:ext uri="{BB962C8B-B14F-4D97-AF65-F5344CB8AC3E}">
        <p14:creationId xmlns:p14="http://schemas.microsoft.com/office/powerpoint/2010/main" val="1087006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Key-Based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In simple terms, shard keys are similar to primary keys in that both are columns which are used to establish a unique identifier for individual rows.</a:t>
            </a:r>
          </a:p>
        </p:txBody>
      </p:sp>
    </p:spTree>
    <p:extLst>
      <p:ext uri="{BB962C8B-B14F-4D97-AF65-F5344CB8AC3E}">
        <p14:creationId xmlns:p14="http://schemas.microsoft.com/office/powerpoint/2010/main" val="3579307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Key-Based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Broadly speaking, a shard key should be static, </a:t>
            </a:r>
            <a:r>
              <a:rPr lang="en-US" sz="3200" dirty="0" smtClean="0"/>
              <a:t>meaning that </a:t>
            </a:r>
            <a:r>
              <a:rPr lang="en-US" sz="3200" dirty="0"/>
              <a:t>it shouldn’t contain values that might change over time</a:t>
            </a:r>
            <a:r>
              <a:rPr lang="en-US" sz="3200" dirty="0" smtClean="0"/>
              <a:t>.</a:t>
            </a:r>
          </a:p>
          <a:p>
            <a:pPr algn="just">
              <a:lnSpc>
                <a:spcPct val="150000"/>
              </a:lnSpc>
            </a:pPr>
            <a:endParaRPr lang="en-US" sz="3200" dirty="0"/>
          </a:p>
          <a:p>
            <a:pPr algn="just">
              <a:lnSpc>
                <a:spcPct val="150000"/>
              </a:lnSpc>
            </a:pPr>
            <a:r>
              <a:rPr lang="en-US" sz="3200" dirty="0"/>
              <a:t>Otherwise, it would increase the amount of work that goes into </a:t>
            </a:r>
            <a:r>
              <a:rPr lang="en-US" sz="3200" dirty="0" smtClean="0"/>
              <a:t>operations</a:t>
            </a:r>
            <a:r>
              <a:rPr lang="en-US" sz="3200" dirty="0"/>
              <a:t>, and could slow down performance.</a:t>
            </a:r>
          </a:p>
        </p:txBody>
      </p:sp>
    </p:spTree>
    <p:extLst>
      <p:ext uri="{BB962C8B-B14F-4D97-AF65-F5344CB8AC3E}">
        <p14:creationId xmlns:p14="http://schemas.microsoft.com/office/powerpoint/2010/main" val="1110855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Range-Based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smtClean="0"/>
              <a:t>Range-based </a:t>
            </a:r>
            <a:r>
              <a:rPr lang="en-US" sz="3200" dirty="0" err="1"/>
              <a:t>sharding</a:t>
            </a:r>
            <a:r>
              <a:rPr lang="en-US" sz="3200" dirty="0"/>
              <a:t> involves </a:t>
            </a:r>
            <a:r>
              <a:rPr lang="en-US" sz="3200" dirty="0" err="1"/>
              <a:t>sharding</a:t>
            </a:r>
            <a:r>
              <a:rPr lang="en-US" sz="3200" dirty="0"/>
              <a:t> data based on ranges of a given value.</a:t>
            </a:r>
          </a:p>
        </p:txBody>
      </p:sp>
    </p:spTree>
    <p:extLst>
      <p:ext uri="{BB962C8B-B14F-4D97-AF65-F5344CB8AC3E}">
        <p14:creationId xmlns:p14="http://schemas.microsoft.com/office/powerpoint/2010/main" val="407638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Range-Based </a:t>
            </a:r>
            <a:r>
              <a:rPr lang="en-US" dirty="0" err="1" smtClean="0"/>
              <a:t>Sharding</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77156" y="1853589"/>
            <a:ext cx="7437687" cy="4704229"/>
          </a:xfrm>
          <a:prstGeom prst="rect">
            <a:avLst/>
          </a:prstGeom>
        </p:spPr>
      </p:pic>
    </p:spTree>
    <p:extLst>
      <p:ext uri="{BB962C8B-B14F-4D97-AF65-F5344CB8AC3E}">
        <p14:creationId xmlns:p14="http://schemas.microsoft.com/office/powerpoint/2010/main" val="120067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Drawbacks of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While </a:t>
            </a:r>
            <a:r>
              <a:rPr lang="en-US" sz="3200" dirty="0" err="1" smtClean="0"/>
              <a:t>sharding</a:t>
            </a:r>
            <a:r>
              <a:rPr lang="en-US" sz="3200" dirty="0" smtClean="0"/>
              <a:t> fairly common, </a:t>
            </a:r>
            <a:r>
              <a:rPr lang="en-US" sz="3200" dirty="0"/>
              <a:t>it can make things tricky when trying to dynamically add </a:t>
            </a:r>
            <a:r>
              <a:rPr lang="en-US" sz="3200" dirty="0" smtClean="0"/>
              <a:t>additional servers to or remove servers from a database.</a:t>
            </a:r>
            <a:endParaRPr lang="en-US" sz="3200" dirty="0"/>
          </a:p>
        </p:txBody>
      </p:sp>
    </p:spTree>
    <p:extLst>
      <p:ext uri="{BB962C8B-B14F-4D97-AF65-F5344CB8AC3E}">
        <p14:creationId xmlns:p14="http://schemas.microsoft.com/office/powerpoint/2010/main" val="2650920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Drawbacks of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As you add servers, each </a:t>
            </a:r>
            <a:r>
              <a:rPr lang="en-US" sz="3200" dirty="0" smtClean="0"/>
              <a:t>new server </a:t>
            </a:r>
            <a:r>
              <a:rPr lang="en-US" sz="3200" dirty="0"/>
              <a:t>will need a corresponding hash value and many of your existing entries, if not all of them, </a:t>
            </a:r>
            <a:r>
              <a:rPr lang="en-US" sz="3200" dirty="0" smtClean="0"/>
              <a:t>might </a:t>
            </a:r>
            <a:r>
              <a:rPr lang="en-US" sz="3200" dirty="0"/>
              <a:t>need to be remapped to their new, correct hash </a:t>
            </a:r>
            <a:r>
              <a:rPr lang="en-US" sz="3200" dirty="0" smtClean="0"/>
              <a:t>values </a:t>
            </a:r>
            <a:r>
              <a:rPr lang="en-US" sz="3200" dirty="0"/>
              <a:t>and then migrated to the appropriate </a:t>
            </a:r>
            <a:r>
              <a:rPr lang="en-US" sz="3200" dirty="0" smtClean="0"/>
              <a:t>servers.</a:t>
            </a:r>
            <a:endParaRPr lang="en-US" sz="3200" dirty="0"/>
          </a:p>
        </p:txBody>
      </p:sp>
    </p:spTree>
    <p:extLst>
      <p:ext uri="{BB962C8B-B14F-4D97-AF65-F5344CB8AC3E}">
        <p14:creationId xmlns:p14="http://schemas.microsoft.com/office/powerpoint/2010/main" val="36044653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Drawbacks of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As you begin rebalancing the data, </a:t>
            </a:r>
            <a:r>
              <a:rPr lang="en-US" sz="3200" dirty="0" smtClean="0"/>
              <a:t>the old hash values could become invalid.</a:t>
            </a:r>
          </a:p>
          <a:p>
            <a:pPr algn="just">
              <a:lnSpc>
                <a:spcPct val="150000"/>
              </a:lnSpc>
            </a:pPr>
            <a:endParaRPr lang="en-US" sz="3200" dirty="0"/>
          </a:p>
          <a:p>
            <a:pPr algn="just">
              <a:lnSpc>
                <a:spcPct val="150000"/>
              </a:lnSpc>
            </a:pPr>
            <a:endParaRPr lang="en-US" sz="3200" dirty="0"/>
          </a:p>
        </p:txBody>
      </p:sp>
    </p:spTree>
    <p:extLst>
      <p:ext uri="{BB962C8B-B14F-4D97-AF65-F5344CB8AC3E}">
        <p14:creationId xmlns:p14="http://schemas.microsoft.com/office/powerpoint/2010/main" val="7999430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Drawbacks of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Consequently, your server </a:t>
            </a:r>
            <a:r>
              <a:rPr lang="en-US" sz="3200" dirty="0" smtClean="0"/>
              <a:t>may not </a:t>
            </a:r>
            <a:r>
              <a:rPr lang="en-US" sz="3200" dirty="0"/>
              <a:t>be able to write any new data during the migration and your application could be subject to downtime.</a:t>
            </a:r>
            <a:endParaRPr lang="en-US" sz="3200" dirty="0" smtClean="0"/>
          </a:p>
          <a:p>
            <a:pPr algn="just">
              <a:lnSpc>
                <a:spcPct val="150000"/>
              </a:lnSpc>
            </a:pPr>
            <a:endParaRPr lang="en-US" sz="3200" dirty="0"/>
          </a:p>
        </p:txBody>
      </p:sp>
    </p:spTree>
    <p:extLst>
      <p:ext uri="{BB962C8B-B14F-4D97-AF65-F5344CB8AC3E}">
        <p14:creationId xmlns:p14="http://schemas.microsoft.com/office/powerpoint/2010/main" val="2475844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Drawbacks of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Looking at </a:t>
            </a:r>
            <a:r>
              <a:rPr lang="en-US" sz="3200" dirty="0" smtClean="0"/>
              <a:t>the previous </a:t>
            </a:r>
            <a:r>
              <a:rPr lang="en-US" sz="3200" dirty="0"/>
              <a:t>example </a:t>
            </a:r>
            <a:r>
              <a:rPr lang="en-US" sz="3200" dirty="0" smtClean="0"/>
              <a:t>diagram, </a:t>
            </a:r>
            <a:r>
              <a:rPr lang="en-US" sz="3200" dirty="0"/>
              <a:t>even if each shard holds an equal amount of </a:t>
            </a:r>
            <a:r>
              <a:rPr lang="en-US" sz="3200" dirty="0" smtClean="0"/>
              <a:t>data, </a:t>
            </a:r>
            <a:r>
              <a:rPr lang="en-US" sz="3200" dirty="0"/>
              <a:t>the odds are that specific products will receive more attention than others.</a:t>
            </a:r>
            <a:endParaRPr lang="en-US" sz="3200" dirty="0"/>
          </a:p>
        </p:txBody>
      </p:sp>
    </p:spTree>
    <p:extLst>
      <p:ext uri="{BB962C8B-B14F-4D97-AF65-F5344CB8AC3E}">
        <p14:creationId xmlns:p14="http://schemas.microsoft.com/office/powerpoint/2010/main" val="3486314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Drawbacks of </a:t>
            </a:r>
            <a:r>
              <a:rPr lang="en-US" dirty="0" err="1" smtClean="0"/>
              <a:t>Sharding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Their respective shards will, in turn, receive a disproportionate number of </a:t>
            </a:r>
            <a:r>
              <a:rPr lang="en-US" sz="3200" dirty="0" smtClean="0"/>
              <a:t>reads, leading to database hotspots.</a:t>
            </a:r>
            <a:endParaRPr lang="en-US" sz="3200" dirty="0"/>
          </a:p>
        </p:txBody>
      </p:sp>
    </p:spTree>
    <p:extLst>
      <p:ext uri="{BB962C8B-B14F-4D97-AF65-F5344CB8AC3E}">
        <p14:creationId xmlns:p14="http://schemas.microsoft.com/office/powerpoint/2010/main" val="10899405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Should You Use Database </a:t>
            </a:r>
            <a:r>
              <a:rPr lang="en-US" dirty="0" err="1" smtClean="0"/>
              <a:t>Sharding</a:t>
            </a:r>
            <a:r>
              <a:rPr lang="en-US" dirty="0" smtClean="0"/>
              <a:t>?</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Whether or not one should implement a </a:t>
            </a:r>
            <a:r>
              <a:rPr lang="en-US" sz="3200" dirty="0" err="1"/>
              <a:t>sharded</a:t>
            </a:r>
            <a:r>
              <a:rPr lang="en-US" sz="3200" dirty="0"/>
              <a:t> database architecture is almost always a matter of debate.</a:t>
            </a:r>
            <a:endParaRPr lang="en-US" sz="3200" dirty="0"/>
          </a:p>
        </p:txBody>
      </p:sp>
    </p:spTree>
    <p:extLst>
      <p:ext uri="{BB962C8B-B14F-4D97-AF65-F5344CB8AC3E}">
        <p14:creationId xmlns:p14="http://schemas.microsoft.com/office/powerpoint/2010/main" val="411359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Should You Use Database </a:t>
            </a:r>
            <a:r>
              <a:rPr lang="en-US" dirty="0" err="1" smtClean="0"/>
              <a:t>Sharding</a:t>
            </a:r>
            <a:r>
              <a:rPr lang="en-US" dirty="0" smtClean="0"/>
              <a:t>?</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Some see </a:t>
            </a:r>
            <a:r>
              <a:rPr lang="en-US" sz="3200" dirty="0" err="1"/>
              <a:t>sharding</a:t>
            </a:r>
            <a:r>
              <a:rPr lang="en-US" sz="3200" dirty="0"/>
              <a:t> as an inevitable outcome for databases that reach a certain size, while others see it as a headache that should be avoided unless it’s absolutely necessary, due to the operational complexity that </a:t>
            </a:r>
            <a:r>
              <a:rPr lang="en-US" sz="3200" dirty="0" err="1"/>
              <a:t>sharding</a:t>
            </a:r>
            <a:r>
              <a:rPr lang="en-US" sz="3200" dirty="0"/>
              <a:t> adds.</a:t>
            </a:r>
            <a:endParaRPr lang="en-US" sz="3200" dirty="0"/>
          </a:p>
        </p:txBody>
      </p:sp>
    </p:spTree>
    <p:extLst>
      <p:ext uri="{BB962C8B-B14F-4D97-AF65-F5344CB8AC3E}">
        <p14:creationId xmlns:p14="http://schemas.microsoft.com/office/powerpoint/2010/main" val="1705407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Scenarios Where Database </a:t>
            </a:r>
            <a:r>
              <a:rPr lang="en-US" dirty="0" err="1" smtClean="0"/>
              <a:t>Sharding</a:t>
            </a:r>
            <a:r>
              <a:rPr lang="en-US" dirty="0" smtClean="0"/>
              <a:t> is Recommended</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The amount of application data grows to exceed the storage capacity of a single database node.</a:t>
            </a:r>
            <a:endParaRPr lang="en-US" sz="3200" dirty="0"/>
          </a:p>
        </p:txBody>
      </p:sp>
    </p:spTree>
    <p:extLst>
      <p:ext uri="{BB962C8B-B14F-4D97-AF65-F5344CB8AC3E}">
        <p14:creationId xmlns:p14="http://schemas.microsoft.com/office/powerpoint/2010/main" val="3906494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Scenarios Where Database </a:t>
            </a:r>
            <a:r>
              <a:rPr lang="en-US" dirty="0" err="1" smtClean="0"/>
              <a:t>Sharding</a:t>
            </a:r>
            <a:r>
              <a:rPr lang="en-US" dirty="0" smtClean="0"/>
              <a:t> is Recommended</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The volume of writes </a:t>
            </a:r>
            <a:r>
              <a:rPr lang="en-US" sz="3200" dirty="0" smtClean="0"/>
              <a:t>or </a:t>
            </a:r>
            <a:r>
              <a:rPr lang="en-US" sz="3200" dirty="0"/>
              <a:t>reads </a:t>
            </a:r>
            <a:r>
              <a:rPr lang="en-US" sz="3200" dirty="0" smtClean="0"/>
              <a:t>to </a:t>
            </a:r>
            <a:r>
              <a:rPr lang="en-US" sz="3200" dirty="0"/>
              <a:t>the database surpasses what a single node </a:t>
            </a:r>
            <a:r>
              <a:rPr lang="en-US" sz="3200" dirty="0" smtClean="0"/>
              <a:t>can </a:t>
            </a:r>
            <a:r>
              <a:rPr lang="en-US" sz="3200" dirty="0"/>
              <a:t>handle, resulting in slowed response times or timeouts.</a:t>
            </a:r>
            <a:endParaRPr lang="en-US" sz="3200" dirty="0"/>
          </a:p>
        </p:txBody>
      </p:sp>
    </p:spTree>
    <p:extLst>
      <p:ext uri="{BB962C8B-B14F-4D97-AF65-F5344CB8AC3E}">
        <p14:creationId xmlns:p14="http://schemas.microsoft.com/office/powerpoint/2010/main" val="752971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Scenarios Where Database </a:t>
            </a:r>
            <a:r>
              <a:rPr lang="en-US" dirty="0" err="1" smtClean="0"/>
              <a:t>Sharding</a:t>
            </a:r>
            <a:r>
              <a:rPr lang="en-US" dirty="0" smtClean="0"/>
              <a:t> is Recommended</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The network bandwidth required by the application outpaces the bandwidth available to a single database </a:t>
            </a:r>
            <a:r>
              <a:rPr lang="en-US" sz="3200" dirty="0" smtClean="0"/>
              <a:t>node, </a:t>
            </a:r>
            <a:r>
              <a:rPr lang="en-US" sz="3200" dirty="0"/>
              <a:t>resulting in slowed response times or timeouts.</a:t>
            </a:r>
            <a:endParaRPr lang="en-US" sz="3200" dirty="0"/>
          </a:p>
        </p:txBody>
      </p:sp>
    </p:spTree>
    <p:extLst>
      <p:ext uri="{BB962C8B-B14F-4D97-AF65-F5344CB8AC3E}">
        <p14:creationId xmlns:p14="http://schemas.microsoft.com/office/powerpoint/2010/main" val="19526920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smtClean="0"/>
              <a:t>Some Other Options</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Setting up a remote </a:t>
            </a:r>
            <a:r>
              <a:rPr lang="en-US" sz="3200" dirty="0" smtClean="0"/>
              <a:t>database</a:t>
            </a:r>
          </a:p>
          <a:p>
            <a:pPr algn="just">
              <a:lnSpc>
                <a:spcPct val="150000"/>
              </a:lnSpc>
            </a:pPr>
            <a:r>
              <a:rPr lang="en-US" sz="3200" dirty="0"/>
              <a:t>Implementing </a:t>
            </a:r>
            <a:r>
              <a:rPr lang="en-US" sz="3200" dirty="0" smtClean="0"/>
              <a:t>caching</a:t>
            </a:r>
          </a:p>
          <a:p>
            <a:pPr algn="just">
              <a:lnSpc>
                <a:spcPct val="150000"/>
              </a:lnSpc>
            </a:pPr>
            <a:r>
              <a:rPr lang="en-US" sz="3200" dirty="0" smtClean="0"/>
              <a:t>Upgrading </a:t>
            </a:r>
            <a:r>
              <a:rPr lang="en-US" sz="3200" dirty="0"/>
              <a:t>to a larger server</a:t>
            </a:r>
            <a:endParaRPr lang="en-US" sz="3200" dirty="0"/>
          </a:p>
        </p:txBody>
      </p:sp>
    </p:spTree>
    <p:extLst>
      <p:ext uri="{BB962C8B-B14F-4D97-AF65-F5344CB8AC3E}">
        <p14:creationId xmlns:p14="http://schemas.microsoft.com/office/powerpoint/2010/main" val="1855346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a:t>Setting </a:t>
            </a:r>
            <a:r>
              <a:rPr lang="en-US" dirty="0" smtClean="0"/>
              <a:t>Up A Remote Database</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If you’re working with a monolithic application in which all of its components reside on the same server, you can improve your database’s performance by moving </a:t>
            </a:r>
            <a:r>
              <a:rPr lang="en-US" sz="3200" dirty="0" smtClean="0"/>
              <a:t>the database </a:t>
            </a:r>
            <a:r>
              <a:rPr lang="en-US" sz="3200" dirty="0"/>
              <a:t>over to its own machine.</a:t>
            </a:r>
            <a:endParaRPr lang="en-US" sz="3200" dirty="0"/>
          </a:p>
        </p:txBody>
      </p:sp>
    </p:spTree>
    <p:extLst>
      <p:ext uri="{BB962C8B-B14F-4D97-AF65-F5344CB8AC3E}">
        <p14:creationId xmlns:p14="http://schemas.microsoft.com/office/powerpoint/2010/main" val="10909476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a:t>Implementing </a:t>
            </a:r>
            <a:r>
              <a:rPr lang="en-US" dirty="0" smtClean="0"/>
              <a:t>Caching</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If your application’s read performance is what’s causing you trouble, caching is one strategy that can help to improve it. Caching involves temporarily storing data that has already been requested in memory, allowing you to access </a:t>
            </a:r>
            <a:r>
              <a:rPr lang="en-US" sz="3200" dirty="0" smtClean="0"/>
              <a:t>the data </a:t>
            </a:r>
            <a:r>
              <a:rPr lang="en-US" sz="3200" dirty="0"/>
              <a:t>much more quickly later on.</a:t>
            </a:r>
            <a:endParaRPr lang="en-US" sz="3200" dirty="0"/>
          </a:p>
        </p:txBody>
      </p:sp>
    </p:spTree>
    <p:extLst>
      <p:ext uri="{BB962C8B-B14F-4D97-AF65-F5344CB8AC3E}">
        <p14:creationId xmlns:p14="http://schemas.microsoft.com/office/powerpoint/2010/main" val="512862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a:t>Upgrading </a:t>
            </a:r>
            <a:r>
              <a:rPr lang="en-US" dirty="0" smtClean="0"/>
              <a:t>To A Larger Server</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3200" dirty="0"/>
              <a:t>In most cases, scaling up one’s database server to a machine with more resources requires less effort than </a:t>
            </a:r>
            <a:r>
              <a:rPr lang="en-US" sz="3200" dirty="0" err="1"/>
              <a:t>sharding</a:t>
            </a:r>
            <a:r>
              <a:rPr lang="en-US" sz="3200" dirty="0"/>
              <a:t>. </a:t>
            </a:r>
            <a:r>
              <a:rPr lang="en-US" sz="3200" dirty="0" smtClean="0"/>
              <a:t>Though an </a:t>
            </a:r>
            <a:r>
              <a:rPr lang="en-US" sz="3200" dirty="0"/>
              <a:t>upgraded server with more resources will likely cost more money. Accordingly, you should only go through with resizing if it truly ends up being your best option.</a:t>
            </a:r>
            <a:endParaRPr lang="en-US" sz="3200" dirty="0"/>
          </a:p>
        </p:txBody>
      </p:sp>
    </p:spTree>
    <p:extLst>
      <p:ext uri="{BB962C8B-B14F-4D97-AF65-F5344CB8AC3E}">
        <p14:creationId xmlns:p14="http://schemas.microsoft.com/office/powerpoint/2010/main" val="4714674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a:lstStyle/>
          <a:p>
            <a:pPr algn="ctr"/>
            <a:r>
              <a:rPr lang="en-US" dirty="0"/>
              <a:t>Some Other Options</a:t>
            </a:r>
          </a:p>
        </p:txBody>
      </p:sp>
      <p:sp>
        <p:nvSpPr>
          <p:cNvPr id="3" name="Content Placeholder 2"/>
          <p:cNvSpPr>
            <a:spLocks noGrp="1"/>
          </p:cNvSpPr>
          <p:nvPr>
            <p:ph idx="1"/>
          </p:nvPr>
        </p:nvSpPr>
        <p:spPr/>
        <p:txBody>
          <a:bodyPr>
            <a:normAutofit/>
          </a:bodyPr>
          <a:lstStyle/>
          <a:p>
            <a:pPr algn="just">
              <a:lnSpc>
                <a:spcPct val="150000"/>
              </a:lnSpc>
            </a:pPr>
            <a:r>
              <a:rPr lang="en-US" sz="3200" dirty="0" smtClean="0"/>
              <a:t>Please remember </a:t>
            </a:r>
            <a:r>
              <a:rPr lang="en-US" sz="3200" dirty="0"/>
              <a:t>that if your application or website grows past a certain point, none of these </a:t>
            </a:r>
            <a:r>
              <a:rPr lang="en-US" sz="3200" dirty="0" smtClean="0"/>
              <a:t>three strategies </a:t>
            </a:r>
            <a:r>
              <a:rPr lang="en-US" sz="3200" dirty="0"/>
              <a:t>will be enough to improve performance on their own. In such cases, </a:t>
            </a:r>
            <a:r>
              <a:rPr lang="en-US" sz="3200" dirty="0" err="1"/>
              <a:t>sharding</a:t>
            </a:r>
            <a:r>
              <a:rPr lang="en-US" sz="3200" dirty="0"/>
              <a:t> may indeed be the best option for you.</a:t>
            </a:r>
            <a:endParaRPr lang="en-US" sz="3200" dirty="0"/>
          </a:p>
        </p:txBody>
      </p:sp>
    </p:spTree>
    <p:extLst>
      <p:ext uri="{BB962C8B-B14F-4D97-AF65-F5344CB8AC3E}">
        <p14:creationId xmlns:p14="http://schemas.microsoft.com/office/powerpoint/2010/main" val="3034051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TotalTime>
  <Words>1590</Words>
  <Application>Microsoft Office PowerPoint</Application>
  <PresentationFormat>Widescreen</PresentationFormat>
  <Paragraphs>118</Paragraphs>
  <Slides>53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Calibri Light</vt:lpstr>
      <vt:lpstr>Office Theme</vt:lpstr>
      <vt:lpstr>Scaling Relational Database Management Systems for Big Data Applications</vt:lpstr>
      <vt:lpstr>What is Big Data?</vt:lpstr>
      <vt:lpstr>The Three Vs of Big Data</vt:lpstr>
      <vt:lpstr>Volume</vt:lpstr>
      <vt:lpstr>Velocity</vt:lpstr>
      <vt:lpstr>Variety</vt:lpstr>
      <vt:lpstr>Scalability</vt:lpstr>
      <vt:lpstr>Types of Scaling</vt:lpstr>
      <vt:lpstr>Vertical Scaling</vt:lpstr>
      <vt:lpstr>Vertical Scaling</vt:lpstr>
      <vt:lpstr>Horizontal Scaling</vt:lpstr>
      <vt:lpstr>Horizontal Scaling</vt:lpstr>
      <vt:lpstr>Types of Scaling</vt:lpstr>
      <vt:lpstr>Types of Scaling</vt:lpstr>
      <vt:lpstr>Types of Scaling</vt:lpstr>
      <vt:lpstr>Scalability</vt:lpstr>
      <vt:lpstr>Scalability</vt:lpstr>
      <vt:lpstr>Database Sharding</vt:lpstr>
      <vt:lpstr>Database Sharding</vt:lpstr>
      <vt:lpstr>Database Sharding</vt:lpstr>
      <vt:lpstr>Database Sharding</vt:lpstr>
      <vt:lpstr>Database Sharding</vt:lpstr>
      <vt:lpstr>Database Sharding</vt:lpstr>
      <vt:lpstr>Database Sharding</vt:lpstr>
      <vt:lpstr>Database Sharding</vt:lpstr>
      <vt:lpstr>Database Sharding</vt:lpstr>
      <vt:lpstr>Sharding Architectures</vt:lpstr>
      <vt:lpstr>Sharding Architectures</vt:lpstr>
      <vt:lpstr>Sharding Architectures</vt:lpstr>
      <vt:lpstr>Key-Based Sharding</vt:lpstr>
      <vt:lpstr>Key-Based Sharding</vt:lpstr>
      <vt:lpstr>Key-Based Sharding</vt:lpstr>
      <vt:lpstr>Key-Based Sharding</vt:lpstr>
      <vt:lpstr>Key-Based Sharding</vt:lpstr>
      <vt:lpstr>Key-Based Sharding</vt:lpstr>
      <vt:lpstr>Range-Based Sharding</vt:lpstr>
      <vt:lpstr>Range-Based Sharding</vt:lpstr>
      <vt:lpstr>Some Drawbacks of Sharding</vt:lpstr>
      <vt:lpstr>Some Drawbacks of Sharding</vt:lpstr>
      <vt:lpstr>Some Drawbacks of Sharding</vt:lpstr>
      <vt:lpstr>Some Drawbacks of Sharding</vt:lpstr>
      <vt:lpstr>Some Drawbacks of Sharding</vt:lpstr>
      <vt:lpstr>Some Drawbacks of Sharding</vt:lpstr>
      <vt:lpstr>Should You Use Database Sharding?</vt:lpstr>
      <vt:lpstr>Should You Use Database Sharding?</vt:lpstr>
      <vt:lpstr>Some Scenarios Where Database Sharding is Recommended</vt:lpstr>
      <vt:lpstr>Some Scenarios Where Database Sharding is Recommended</vt:lpstr>
      <vt:lpstr>Some Scenarios Where Database Sharding is Recommended</vt:lpstr>
      <vt:lpstr>Some Other Options</vt:lpstr>
      <vt:lpstr>Setting Up A Remote Database</vt:lpstr>
      <vt:lpstr>Implementing Caching</vt:lpstr>
      <vt:lpstr>Upgrading To A Larger Server</vt:lpstr>
      <vt:lpstr>Some Other Options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Relational Database Management Systems for Big Data Applications</dc:title>
  <dc:creator>Ali</dc:creator>
  <cp:lastModifiedBy>Ali</cp:lastModifiedBy>
  <cp:revision>106</cp:revision>
  <dcterms:created xsi:type="dcterms:W3CDTF">2021-05-27T14:56:32Z</dcterms:created>
  <dcterms:modified xsi:type="dcterms:W3CDTF">2021-05-28T23:50:03Z</dcterms:modified>
</cp:coreProperties>
</file>