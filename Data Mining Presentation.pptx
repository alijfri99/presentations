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5" r:id="rId6"/>
    <p:sldId id="266" r:id="rId7"/>
    <p:sldId id="257" r:id="rId8"/>
    <p:sldId id="258" r:id="rId9"/>
    <p:sldId id="259" r:id="rId10"/>
    <p:sldId id="260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5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1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5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65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9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8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40CF3-A3AC-47B2-BAF2-362E5A25AD91}" type="datetimeFigureOut">
              <a:rPr lang="en-US" smtClean="0"/>
              <a:t>6/7/2021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1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Sparse Matrices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sz="3200" dirty="0" smtClean="0"/>
              <a:t>Collected by Ali </a:t>
            </a:r>
            <a:r>
              <a:rPr lang="en-US" sz="3200" dirty="0" err="1" smtClean="0"/>
              <a:t>Jafari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7330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In social networks, often a form of an adjacency matrix is used to store the information about users that follow each other.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05099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24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Now, imagine a social network with 100 million users.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This results in an adjacency matrix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elements.</a:t>
                </a:r>
                <a:endParaRPr lang="en-US" sz="32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60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Assuming that each element in the matrix takes 1 bit of space, we would need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p>
                        </m:sSup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=1250∗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bytes of space to store the adjacency matrix.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200" dirty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In other words, the adjacency matrix would take 1250 terabytes.</a:t>
                </a:r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34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In reality, each user of a certain social network follows only </a:t>
            </a:r>
            <a:r>
              <a:rPr lang="en-US" sz="3400" dirty="0" smtClean="0"/>
              <a:t>a tiny </a:t>
            </a:r>
            <a:r>
              <a:rPr lang="en-US" sz="3400" dirty="0"/>
              <a:t>fraction of the total users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This means that most of the elements in the adjacency matrix are zero. In other words, the adjacency matrix is sparse.</a:t>
            </a:r>
          </a:p>
          <a:p>
            <a:pPr marL="0" indent="0" algn="just">
              <a:spcAft>
                <a:spcPts val="1200"/>
              </a:spcAft>
              <a:buNone/>
            </a:pPr>
            <a:r>
              <a:rPr lang="en-US" sz="3400" dirty="0" smtClean="0"/>
              <a:t> </a:t>
            </a:r>
            <a:endParaRPr lang="en-US" sz="32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5728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A</a:t>
            </a:r>
            <a:r>
              <a:rPr lang="en-US" sz="3400" dirty="0" smtClean="0"/>
              <a:t> sparse matrix is a matrix in which most of the elements are zero.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By contrast, if most of the elements in a matrix are non-zero, then the matrix is considered dense.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893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There are no strict rules for the number of elements in a matrix that need to be zero in order to describe the matrix as sparse.</a:t>
            </a:r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number of zero-valued entries in a matrix, divided by the total number of entries in that matrix, is referred to as the sparsity of that matrix.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879655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5400" i="1" dirty="0" smtClean="0"/>
              <a:t>“In </a:t>
            </a:r>
            <a:r>
              <a:rPr lang="en-US" sz="5400" i="1" dirty="0"/>
              <a:t>practice, most large matrices are sparse — almost all entries are zeros</a:t>
            </a:r>
            <a:r>
              <a:rPr lang="en-US" sz="5400" i="1" dirty="0" smtClean="0"/>
              <a:t>.”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3200" i="1" dirty="0" smtClean="0"/>
              <a:t>- Dr. Gilbert </a:t>
            </a:r>
            <a:r>
              <a:rPr lang="en-US" sz="3200" i="1" dirty="0" err="1" smtClean="0"/>
              <a:t>Strang</a:t>
            </a:r>
            <a:r>
              <a:rPr lang="en-US" sz="3200" i="1" dirty="0" smtClean="0"/>
              <a:t>, Introduction to Linear Algebra, 5</a:t>
            </a:r>
            <a:r>
              <a:rPr lang="en-US" sz="3200" i="1" baseline="30000" dirty="0" smtClean="0"/>
              <a:t>th</a:t>
            </a:r>
            <a:r>
              <a:rPr lang="en-US" sz="3200" i="1" dirty="0" smtClean="0"/>
              <a:t> ed., Page 465.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3524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91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Storing A Sparse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In the case of a sparse matrix, substantial memory requirement reductions can be realized by </a:t>
            </a:r>
            <a:r>
              <a:rPr lang="en-US" sz="3400" dirty="0" smtClean="0"/>
              <a:t>storing </a:t>
            </a:r>
            <a:r>
              <a:rPr lang="en-US" sz="3400" dirty="0"/>
              <a:t>the non-zero </a:t>
            </a:r>
            <a:r>
              <a:rPr lang="en-US" sz="3400" dirty="0" smtClean="0"/>
              <a:t>entries only.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955426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Storing A Sparse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Dictionary of Keys (DOK)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List of Lists (LIL)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Coordinate List (COO)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Compressed Sparse Row (CSR)</a:t>
            </a:r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Compressed Sparse Column (CSC)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1511079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DOK consists of a dictionary that maps (</a:t>
            </a:r>
            <a:r>
              <a:rPr lang="en-US" sz="3400" dirty="0" smtClean="0"/>
              <a:t>row, column</a:t>
            </a:r>
            <a:r>
              <a:rPr lang="en-US" sz="3400" dirty="0"/>
              <a:t>)-pairs to the value of the elements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/>
              <a:t>Elements that are missing from the dictionary are taken to be zero.</a:t>
            </a:r>
          </a:p>
        </p:txBody>
      </p:sp>
    </p:spTree>
    <p:extLst>
      <p:ext uri="{BB962C8B-B14F-4D97-AF65-F5344CB8AC3E}">
        <p14:creationId xmlns:p14="http://schemas.microsoft.com/office/powerpoint/2010/main" val="3955590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00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Dictionary of Keys (DOK)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5016057" y="292211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1, 1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→30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2922111"/>
                <a:ext cx="2159886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016057" y="2400855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→20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2400855"/>
                <a:ext cx="2159886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016057" y="1879600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0, 0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→10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1879600"/>
                <a:ext cx="2159886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016057" y="344336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1, 3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→40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3443366"/>
                <a:ext cx="2159886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016057" y="396462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2, 2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→50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3964621"/>
                <a:ext cx="2159886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016057" y="448587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2, 3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→60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4485876"/>
                <a:ext cx="2159886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016057" y="5007131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2, 4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→70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5007131"/>
                <a:ext cx="2159886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016057" y="5528386"/>
                <a:ext cx="215988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3, 5</m:t>
                          </m:r>
                        </m:e>
                      </m:d>
                      <m:r>
                        <a:rPr lang="en-US" sz="3200" b="0" i="0" smtClean="0">
                          <a:latin typeface="Cambria Math" panose="02040503050406030204" pitchFamily="18" charset="0"/>
                        </a:rPr>
                        <m:t> →80</m:t>
                      </m:r>
                    </m:oMath>
                  </m:oMathPara>
                </a14:m>
                <a:endParaRPr lang="en-US" sz="3200" b="0" dirty="0" smtClean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57" y="5528386"/>
                <a:ext cx="2159886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873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LIL stores one list per row, with each entry containing the column index and the value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/>
              <a:t>Typically, these entries </a:t>
            </a:r>
            <a:r>
              <a:rPr lang="en-US" sz="3400" dirty="0" smtClean="0"/>
              <a:t>are </a:t>
            </a:r>
            <a:r>
              <a:rPr lang="en-US" sz="3400" dirty="0"/>
              <a:t>sorted by column index for faster </a:t>
            </a:r>
            <a:r>
              <a:rPr lang="en-US" sz="3400" dirty="0" smtClean="0"/>
              <a:t>lookup.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133999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042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List of Lists (LIL)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728895" y="3177309"/>
                <a:ext cx="7884466" cy="10868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0, 10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1, 20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1, 30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3, 40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2, 50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3, 60</m:t>
                                      </m:r>
                                    </m:e>
                                  </m:d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4, 70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3600" b="0" i="1" smtClean="0">
                                          <a:latin typeface="Cambria Math" panose="02040503050406030204" pitchFamily="18" charset="0"/>
                                        </a:rPr>
                                        <m:t>5, 80</m:t>
                                      </m:r>
                                    </m:e>
                                  </m:d>
                                </m:e>
                              </m:d>
                            </m:e>
                          </m:eqAr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895" y="3177309"/>
                <a:ext cx="7884466" cy="10868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85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Coordinate List (COO)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COO maintains a list of row indices, a list of column indices, and a list </a:t>
            </a:r>
            <a:r>
              <a:rPr lang="en-US" sz="3400" dirty="0" smtClean="0"/>
              <a:t>of values for </a:t>
            </a:r>
            <a:r>
              <a:rPr lang="en-US" sz="3400" dirty="0" smtClean="0"/>
              <a:t>the non-zero entries in a sparse matrix.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entries of the matrix </a:t>
            </a:r>
            <a:r>
              <a:rPr lang="en-US" sz="3400" dirty="0"/>
              <a:t>are sorted first by row index and then by column index, to improve random access </a:t>
            </a:r>
            <a:r>
              <a:rPr lang="en-US" sz="3400" dirty="0" smtClean="0"/>
              <a:t>time.</a:t>
            </a:r>
            <a:endParaRPr lang="en-US" sz="3400" dirty="0" smtClean="0"/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340804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Coordinate List (COO)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355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Coordinate List (COO)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2245951" y="2669401"/>
                <a:ext cx="738606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𝑉𝐴𝐿𝑆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=[10, 20, 30, 40, 50, 60, 70, 80]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951" y="2669401"/>
                <a:ext cx="7386061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2032751" y="4359925"/>
                <a:ext cx="55682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𝑅𝑂𝑊𝑆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=[0, 0, 1, 1, 2, 2, 2, 3]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751" y="4359925"/>
                <a:ext cx="5568256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2245951" y="3526118"/>
                <a:ext cx="53550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𝐶𝑂𝐿𝑆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=[0, 1, 1, 3, 2, 3, 4, 5]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951" y="3526118"/>
                <a:ext cx="535505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66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</TotalTime>
  <Words>570</Words>
  <Application>Microsoft Office PowerPoint</Application>
  <PresentationFormat>Widescreen</PresentationFormat>
  <Paragraphs>78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Office Theme</vt:lpstr>
      <vt:lpstr>Sparse Matrices</vt:lpstr>
      <vt:lpstr>Let’s State A Problem</vt:lpstr>
      <vt:lpstr>Let’s State A Problem</vt:lpstr>
      <vt:lpstr>Let’s State A Problem</vt:lpstr>
      <vt:lpstr>Let’s State A Problem</vt:lpstr>
      <vt:lpstr>Let’s State A Problem</vt:lpstr>
      <vt:lpstr>What Are Sparse Matrices?</vt:lpstr>
      <vt:lpstr>What Are Sparse Matrices?</vt:lpstr>
      <vt:lpstr>What Are Sparse Matrices?</vt:lpstr>
      <vt:lpstr>What Are Sparse Matrices?</vt:lpstr>
      <vt:lpstr>Storing A Sparse Matrix</vt:lpstr>
      <vt:lpstr>Storing A Sparse Matrix</vt:lpstr>
      <vt:lpstr>Dictionary of Keys (DOK)</vt:lpstr>
      <vt:lpstr>Dictionary of Keys (DOK)</vt:lpstr>
      <vt:lpstr>Dictionary of Keys (DOK)</vt:lpstr>
      <vt:lpstr>List of Lists (LIL)</vt:lpstr>
      <vt:lpstr>List of Lists (LIL)</vt:lpstr>
      <vt:lpstr>List of Lists (LIL)</vt:lpstr>
      <vt:lpstr>Coordinate List (COO)</vt:lpstr>
      <vt:lpstr>Coordinate List (COO)</vt:lpstr>
      <vt:lpstr>Coordinate List (COO)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Sparse Matrices</dc:title>
  <dc:creator>Ali</dc:creator>
  <cp:lastModifiedBy>Ali</cp:lastModifiedBy>
  <cp:revision>90</cp:revision>
  <dcterms:created xsi:type="dcterms:W3CDTF">2021-06-03T12:43:58Z</dcterms:created>
  <dcterms:modified xsi:type="dcterms:W3CDTF">2021-06-07T03:21:30Z</dcterms:modified>
</cp:coreProperties>
</file>