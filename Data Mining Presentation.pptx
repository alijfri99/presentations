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2" r:id="rId4"/>
    <p:sldId id="263" r:id="rId5"/>
    <p:sldId id="265" r:id="rId6"/>
    <p:sldId id="26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252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41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3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963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40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25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94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650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895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182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201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240CF3-A3AC-47B2-BAF2-362E5A25AD91}" type="datetimeFigureOut">
              <a:rPr lang="en-US" smtClean="0"/>
              <a:t>6/5/2021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FEFD0-1A41-4AE5-8BEF-3778EE25F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918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Sparse Matrices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 smtClean="0"/>
          </a:p>
          <a:p>
            <a:r>
              <a:rPr lang="en-US" sz="3200" dirty="0" smtClean="0"/>
              <a:t>Collected by Ali </a:t>
            </a:r>
            <a:r>
              <a:rPr lang="en-US" sz="3200" dirty="0" err="1" smtClean="0"/>
              <a:t>Jafari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1473305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In social networks, often a form of an adjacency matrix is used to store the information about users that follow each other.</a:t>
            </a:r>
          </a:p>
          <a:p>
            <a:pPr algn="just">
              <a:spcAft>
                <a:spcPts val="1200"/>
              </a:spcAft>
            </a:pPr>
            <a:endParaRPr lang="en-US" sz="34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905099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321732" y="2900218"/>
                <a:ext cx="3548536" cy="2547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1732" y="2900218"/>
                <a:ext cx="3548536" cy="25474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483379" y="2138527"/>
                <a:ext cx="322524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5"/>
                                <m:mcJc m:val="center"/>
                              </m:mcPr>
                            </m:mc>
                          </m:mcs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mr>
                      </m:m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3379" y="2138527"/>
                <a:ext cx="3225242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468254" y="2900218"/>
                <a:ext cx="359073" cy="254749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mr>
                        <m:mr>
                          <m:e>
                            <m:r>
                              <a:rPr lang="en-US" sz="3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</m:mr>
                      </m:m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8254" y="2900218"/>
                <a:ext cx="359073" cy="254749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248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Now, imagine a social network with 100 million users.</a:t>
                </a:r>
              </a:p>
              <a:p>
                <a:pPr algn="just">
                  <a:spcAft>
                    <a:spcPts val="1200"/>
                  </a:spcAft>
                </a:pPr>
                <a:endParaRPr lang="en-US" sz="3400" dirty="0" smtClean="0"/>
              </a:p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This results in an adjacency matrix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sz="3200" dirty="0" smtClean="0"/>
                  <a:t> </a:t>
                </a:r>
                <a:r>
                  <a:rPr lang="en-US" sz="3400" dirty="0" smtClean="0"/>
                  <a:t>elements.</a:t>
                </a:r>
                <a:endParaRPr lang="en-US" sz="3200" dirty="0" smtClean="0"/>
              </a:p>
              <a:p>
                <a:pPr marL="0" indent="0" algn="just">
                  <a:spcAft>
                    <a:spcPts val="1200"/>
                  </a:spcAft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9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6075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Assuming that each element in the matrix takes 1 bit of space, we would need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3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32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p>
                        </m:sSup>
                      </m:num>
                      <m:den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  <m:r>
                      <a:rPr lang="en-US" sz="3200" b="0" i="1" smtClean="0">
                        <a:latin typeface="Cambria Math" panose="02040503050406030204" pitchFamily="18" charset="0"/>
                      </a:rPr>
                      <m:t>=1250∗</m:t>
                    </m:r>
                    <m:sSup>
                      <m:sSupPr>
                        <m:ctrlPr>
                          <a:rPr lang="en-US" sz="3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sz="3200" dirty="0" smtClean="0"/>
                  <a:t> </a:t>
                </a:r>
                <a:r>
                  <a:rPr lang="en-US" sz="3400" dirty="0" smtClean="0"/>
                  <a:t>bytes of space to store the adjacency matrix.</a:t>
                </a:r>
              </a:p>
              <a:p>
                <a:pPr algn="just">
                  <a:spcAft>
                    <a:spcPts val="1200"/>
                  </a:spcAft>
                </a:pPr>
                <a:endParaRPr lang="en-US" sz="3200" dirty="0"/>
              </a:p>
              <a:p>
                <a:pPr algn="just">
                  <a:spcAft>
                    <a:spcPts val="1200"/>
                  </a:spcAft>
                </a:pPr>
                <a:r>
                  <a:rPr lang="en-US" sz="3400" dirty="0" smtClean="0"/>
                  <a:t>In other words, the adjacency matrix would take 1250 terabytes.</a:t>
                </a:r>
                <a:endParaRPr lang="en-US" sz="3400" dirty="0" smtClean="0"/>
              </a:p>
              <a:p>
                <a:pPr marL="0" indent="0" algn="just">
                  <a:spcAft>
                    <a:spcPts val="1200"/>
                  </a:spcAft>
                  <a:buNone/>
                </a:pPr>
                <a:endParaRPr lang="en-US" sz="32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9" t="-3081" r="-1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342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Let’s State A Problem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In reality, each user of a certain social network follows only </a:t>
            </a:r>
            <a:r>
              <a:rPr lang="en-US" sz="3400" dirty="0" smtClean="0"/>
              <a:t>a tiny </a:t>
            </a:r>
            <a:r>
              <a:rPr lang="en-US" sz="3400" dirty="0"/>
              <a:t>fraction of the total users</a:t>
            </a:r>
            <a:r>
              <a:rPr lang="en-US" sz="3400" dirty="0" smtClean="0"/>
              <a:t>.</a:t>
            </a:r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This means that most of the elements in the adjacency matrix are zero. In other words, the adjacency matrix is sparse.</a:t>
            </a:r>
          </a:p>
          <a:p>
            <a:pPr marL="0" indent="0" algn="just">
              <a:spcAft>
                <a:spcPts val="1200"/>
              </a:spcAft>
              <a:buNone/>
            </a:pPr>
            <a:r>
              <a:rPr lang="en-US" sz="3400" dirty="0" smtClean="0"/>
              <a:t> </a:t>
            </a:r>
            <a:endParaRPr lang="en-US" sz="32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5728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/>
              <a:t>A</a:t>
            </a:r>
            <a:r>
              <a:rPr lang="en-US" sz="3400" dirty="0" smtClean="0"/>
              <a:t> sparse matrix is a matrix in which most of the elements are </a:t>
            </a:r>
            <a:r>
              <a:rPr lang="en-US" sz="3400" dirty="0" smtClean="0"/>
              <a:t>zero.</a:t>
            </a:r>
            <a:endParaRPr lang="en-US" sz="3400" dirty="0" smtClean="0"/>
          </a:p>
          <a:p>
            <a:pPr algn="just">
              <a:spcAft>
                <a:spcPts val="1200"/>
              </a:spcAft>
            </a:pPr>
            <a:endParaRPr lang="en-US" sz="34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By contrast, if most of the elements in a matrix are nonzero, then the matrix is considered dense.</a:t>
            </a:r>
          </a:p>
          <a:p>
            <a:pPr algn="just">
              <a:spcAft>
                <a:spcPts val="1200"/>
              </a:spcAft>
            </a:pPr>
            <a:endParaRPr lang="en-US" sz="3400" dirty="0" smtClean="0"/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89311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spcAft>
                <a:spcPts val="1200"/>
              </a:spcAft>
            </a:pPr>
            <a:r>
              <a:rPr lang="en-US" sz="3400" dirty="0" smtClean="0"/>
              <a:t>There are no strict rules for the number of elements in a matrix that need to be zero in order to describe the matrix as sparse.</a:t>
            </a:r>
          </a:p>
          <a:p>
            <a:pPr marL="0" indent="0" algn="just">
              <a:spcAft>
                <a:spcPts val="1200"/>
              </a:spcAft>
              <a:buNone/>
            </a:pPr>
            <a:endParaRPr lang="en-US" sz="3200" dirty="0"/>
          </a:p>
          <a:p>
            <a:pPr algn="just">
              <a:spcAft>
                <a:spcPts val="1200"/>
              </a:spcAft>
            </a:pPr>
            <a:r>
              <a:rPr lang="en-US" sz="3400" dirty="0" smtClean="0"/>
              <a:t>The number of zero-valued </a:t>
            </a:r>
            <a:r>
              <a:rPr lang="en-US" sz="3400" dirty="0" smtClean="0"/>
              <a:t>entries </a:t>
            </a:r>
            <a:r>
              <a:rPr lang="en-US" sz="3400" dirty="0" smtClean="0"/>
              <a:t>in a matrix, divided by the total number of </a:t>
            </a:r>
            <a:r>
              <a:rPr lang="en-US" sz="3400" dirty="0" smtClean="0"/>
              <a:t>entries </a:t>
            </a:r>
            <a:r>
              <a:rPr lang="en-US" sz="3400" dirty="0" smtClean="0"/>
              <a:t>in that matrix, is referred to as the sparsity of that matrix.</a:t>
            </a:r>
            <a:endParaRPr lang="en-US" sz="3400" dirty="0"/>
          </a:p>
        </p:txBody>
      </p:sp>
    </p:spTree>
    <p:extLst>
      <p:ext uri="{BB962C8B-B14F-4D97-AF65-F5344CB8AC3E}">
        <p14:creationId xmlns:p14="http://schemas.microsoft.com/office/powerpoint/2010/main" val="28796552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en-US" sz="5400" i="1" dirty="0" smtClean="0"/>
              <a:t>“In </a:t>
            </a:r>
            <a:r>
              <a:rPr lang="en-US" sz="5400" i="1" dirty="0"/>
              <a:t>practice, most large matrices are sparse — almost all entries are zeros</a:t>
            </a:r>
            <a:r>
              <a:rPr lang="en-US" sz="5400" i="1" dirty="0" smtClean="0"/>
              <a:t>.”</a:t>
            </a:r>
          </a:p>
          <a:p>
            <a:pPr marL="0" indent="0" algn="ctr">
              <a:spcAft>
                <a:spcPts val="1200"/>
              </a:spcAft>
              <a:buNone/>
            </a:pPr>
            <a:r>
              <a:rPr lang="en-US" sz="3200" i="1" dirty="0" smtClean="0"/>
              <a:t>- Dr. Gilbert </a:t>
            </a:r>
            <a:r>
              <a:rPr lang="en-US" sz="3200" i="1" dirty="0" err="1" smtClean="0"/>
              <a:t>Strang</a:t>
            </a:r>
            <a:r>
              <a:rPr lang="en-US" sz="3200" i="1" dirty="0" smtClean="0"/>
              <a:t>, Introduction to Linear Algebra, 5</a:t>
            </a:r>
            <a:r>
              <a:rPr lang="en-US" sz="3200" i="1" baseline="30000" dirty="0" smtClean="0"/>
              <a:t>th</a:t>
            </a:r>
            <a:r>
              <a:rPr lang="en-US" sz="3200" i="1" dirty="0" smtClean="0"/>
              <a:t> ed., Page </a:t>
            </a:r>
            <a:r>
              <a:rPr lang="en-US" sz="3200" i="1" dirty="0" smtClean="0"/>
              <a:t>465.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2935242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txBody>
          <a:bodyPr>
            <a:normAutofit/>
          </a:bodyPr>
          <a:lstStyle/>
          <a:p>
            <a:pPr algn="ctr"/>
            <a:r>
              <a:rPr lang="en-US" dirty="0" smtClean="0"/>
              <a:t>What Are Sparse Matrices?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60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80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0089" y="2456871"/>
                <a:ext cx="6757491" cy="20410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4077146" y="5023141"/>
                <a:ext cx="4037708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𝑆𝑝𝑎𝑟𝑠𝑖𝑡𝑦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24</m:t>
                          </m:r>
                        </m:den>
                      </m:f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46" y="5023141"/>
                <a:ext cx="4037708" cy="9251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9157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</TotalTime>
  <Words>279</Words>
  <Application>Microsoft Office PowerPoint</Application>
  <PresentationFormat>Widescreen</PresentationFormat>
  <Paragraphs>36</Paragraphs>
  <Slides>10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Sparse Matrices</vt:lpstr>
      <vt:lpstr>Let’s State A Problem</vt:lpstr>
      <vt:lpstr>Let’s State A Problem</vt:lpstr>
      <vt:lpstr>Let’s State A Problem</vt:lpstr>
      <vt:lpstr>Let’s State A Problem</vt:lpstr>
      <vt:lpstr>Let’s State A Problem</vt:lpstr>
      <vt:lpstr>What Are Sparse Matrices?</vt:lpstr>
      <vt:lpstr>What Are Sparse Matrices?</vt:lpstr>
      <vt:lpstr>What Are Sparse Matrices?</vt:lpstr>
      <vt:lpstr>What Are Sparse Matrices?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Sparse Matrices</dc:title>
  <dc:creator>Ali</dc:creator>
  <cp:lastModifiedBy>Ali</cp:lastModifiedBy>
  <cp:revision>55</cp:revision>
  <dcterms:created xsi:type="dcterms:W3CDTF">2021-06-03T12:43:58Z</dcterms:created>
  <dcterms:modified xsi:type="dcterms:W3CDTF">2021-06-05T08:55:55Z</dcterms:modified>
</cp:coreProperties>
</file>