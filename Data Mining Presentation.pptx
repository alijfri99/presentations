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5" r:id="rId6"/>
    <p:sldId id="266" r:id="rId7"/>
    <p:sldId id="257" r:id="rId8"/>
    <p:sldId id="258" r:id="rId9"/>
    <p:sldId id="259" r:id="rId10"/>
    <p:sldId id="260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0CF3-A3AC-47B2-BAF2-362E5A25AD91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EFD0-1A41-4AE5-8BEF-3778EE25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5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0CF3-A3AC-47B2-BAF2-362E5A25AD91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EFD0-1A41-4AE5-8BEF-3778EE25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413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0CF3-A3AC-47B2-BAF2-362E5A25AD91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EFD0-1A41-4AE5-8BEF-3778EE25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3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0CF3-A3AC-47B2-BAF2-362E5A25AD91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EFD0-1A41-4AE5-8BEF-3778EE25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63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0CF3-A3AC-47B2-BAF2-362E5A25AD91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EFD0-1A41-4AE5-8BEF-3778EE25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40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0CF3-A3AC-47B2-BAF2-362E5A25AD91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EFD0-1A41-4AE5-8BEF-3778EE25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51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0CF3-A3AC-47B2-BAF2-362E5A25AD91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EFD0-1A41-4AE5-8BEF-3778EE25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944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0CF3-A3AC-47B2-BAF2-362E5A25AD91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EFD0-1A41-4AE5-8BEF-3778EE25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650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0CF3-A3AC-47B2-BAF2-362E5A25AD91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EFD0-1A41-4AE5-8BEF-3778EE25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95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0CF3-A3AC-47B2-BAF2-362E5A25AD91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EFD0-1A41-4AE5-8BEF-3778EE25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182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0CF3-A3AC-47B2-BAF2-362E5A25AD91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FEFD0-1A41-4AE5-8BEF-3778EE25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0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40CF3-A3AC-47B2-BAF2-362E5A25AD91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FEFD0-1A41-4AE5-8BEF-3778EE25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1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Sparse Matrices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sz="3200" dirty="0" smtClean="0"/>
              <a:t>Collected by Ali </a:t>
            </a:r>
            <a:r>
              <a:rPr lang="en-US" sz="3200" dirty="0" err="1" smtClean="0"/>
              <a:t>Jafari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47330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Let’s State A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US" sz="3400" dirty="0" smtClean="0"/>
              <a:t>In social networks, often a form of an adjacency matrix is used to store the information about users that follow each other.</a:t>
            </a:r>
          </a:p>
          <a:p>
            <a:pPr algn="just">
              <a:spcAft>
                <a:spcPts val="1200"/>
              </a:spcAft>
            </a:pPr>
            <a:endParaRPr lang="en-US" sz="3400" dirty="0" smtClean="0"/>
          </a:p>
          <a:p>
            <a:pPr marL="0" indent="0" algn="just">
              <a:spcAft>
                <a:spcPts val="1200"/>
              </a:spcAft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05099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Let’s State A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321732" y="2900218"/>
                <a:ext cx="3548536" cy="25474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1732" y="2900218"/>
                <a:ext cx="3548536" cy="25474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483379" y="2138527"/>
                <a:ext cx="322524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5"/>
                                <m:mcJc m:val="center"/>
                              </m:mcPr>
                            </m:mc>
                          </m:mcs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mr>
                      </m:m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3379" y="2138527"/>
                <a:ext cx="3225242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468254" y="2900218"/>
                <a:ext cx="359073" cy="25474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mr>
                        <m:m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mr>
                        <m:m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mr>
                      </m:m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254" y="2900218"/>
                <a:ext cx="359073" cy="25474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6248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Let’s State A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spcAft>
                    <a:spcPts val="1200"/>
                  </a:spcAft>
                </a:pPr>
                <a:r>
                  <a:rPr lang="en-US" sz="3400" dirty="0" smtClean="0"/>
                  <a:t>Now, imagine a social network with 100 million users.</a:t>
                </a:r>
              </a:p>
              <a:p>
                <a:pPr algn="just">
                  <a:spcAft>
                    <a:spcPts val="1200"/>
                  </a:spcAft>
                </a:pPr>
                <a:endParaRPr lang="en-US" sz="3400" dirty="0" smtClean="0"/>
              </a:p>
              <a:p>
                <a:pPr algn="just">
                  <a:spcAft>
                    <a:spcPts val="1200"/>
                  </a:spcAft>
                </a:pPr>
                <a:r>
                  <a:rPr lang="en-US" sz="3400" dirty="0" smtClean="0"/>
                  <a:t>This results in an adjacency matrix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lang="en-US" sz="3200" dirty="0" smtClean="0"/>
                  <a:t> </a:t>
                </a:r>
                <a:r>
                  <a:rPr lang="en-US" sz="3400" dirty="0" smtClean="0"/>
                  <a:t>elements.</a:t>
                </a:r>
                <a:endParaRPr lang="en-US" sz="3200" dirty="0" smtClean="0"/>
              </a:p>
              <a:p>
                <a:pPr marL="0" indent="0" algn="just">
                  <a:spcAft>
                    <a:spcPts val="1200"/>
                  </a:spcAft>
                  <a:buNone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9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607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Let’s State A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spcAft>
                    <a:spcPts val="1200"/>
                  </a:spcAft>
                </a:pPr>
                <a:r>
                  <a:rPr lang="en-US" sz="3400" dirty="0" smtClean="0"/>
                  <a:t>Assuming that each element in the matrix takes 1 bit of space, we would need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p>
                        </m:sSup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=1250∗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en-US" sz="3200" dirty="0" smtClean="0"/>
                  <a:t> </a:t>
                </a:r>
                <a:r>
                  <a:rPr lang="en-US" sz="3400" dirty="0" smtClean="0"/>
                  <a:t>bytes of space to store the adjacency matrix.</a:t>
                </a:r>
              </a:p>
              <a:p>
                <a:pPr algn="just">
                  <a:spcAft>
                    <a:spcPts val="1200"/>
                  </a:spcAft>
                </a:pPr>
                <a:endParaRPr lang="en-US" sz="3200" dirty="0"/>
              </a:p>
              <a:p>
                <a:pPr algn="just">
                  <a:spcAft>
                    <a:spcPts val="1200"/>
                  </a:spcAft>
                </a:pPr>
                <a:r>
                  <a:rPr lang="en-US" sz="3400" dirty="0" smtClean="0"/>
                  <a:t>In other words, the adjacency matrix would take 1250 terabytes.</a:t>
                </a:r>
              </a:p>
              <a:p>
                <a:pPr marL="0" indent="0" algn="just">
                  <a:spcAft>
                    <a:spcPts val="1200"/>
                  </a:spcAft>
                  <a:buNone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9" t="-3081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342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Let’s State A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US" sz="3400" dirty="0"/>
              <a:t>In reality, each user of a certain social network follows only </a:t>
            </a:r>
            <a:r>
              <a:rPr lang="en-US" sz="3400" dirty="0" smtClean="0"/>
              <a:t>a tiny </a:t>
            </a:r>
            <a:r>
              <a:rPr lang="en-US" sz="3400" dirty="0"/>
              <a:t>fraction of the total users</a:t>
            </a:r>
            <a:r>
              <a:rPr lang="en-US" sz="3400" dirty="0" smtClean="0"/>
              <a:t>.</a:t>
            </a:r>
          </a:p>
          <a:p>
            <a:pPr algn="just">
              <a:spcAft>
                <a:spcPts val="1200"/>
              </a:spcAft>
            </a:pPr>
            <a:endParaRPr lang="en-US" sz="3400" dirty="0"/>
          </a:p>
          <a:p>
            <a:pPr algn="just">
              <a:spcAft>
                <a:spcPts val="1200"/>
              </a:spcAft>
            </a:pPr>
            <a:r>
              <a:rPr lang="en-US" sz="3400" dirty="0" smtClean="0"/>
              <a:t>This means that most of the elements in the adjacency matrix are zero. In other words, the adjacency matrix is sparse.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lang="en-US" sz="3400" dirty="0" smtClean="0"/>
              <a:t> </a:t>
            </a:r>
            <a:endParaRPr lang="en-US" sz="3200" dirty="0" smtClean="0"/>
          </a:p>
          <a:p>
            <a:pPr marL="0" indent="0" algn="just">
              <a:spcAft>
                <a:spcPts val="1200"/>
              </a:spcAft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572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What Are Sparse Matrices?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US" sz="3400" dirty="0"/>
              <a:t>A</a:t>
            </a:r>
            <a:r>
              <a:rPr lang="en-US" sz="3400" dirty="0" smtClean="0"/>
              <a:t> sparse matrix is a matrix in which most of the elements are zero.</a:t>
            </a:r>
          </a:p>
          <a:p>
            <a:pPr algn="just">
              <a:spcAft>
                <a:spcPts val="1200"/>
              </a:spcAft>
            </a:pPr>
            <a:endParaRPr lang="en-US" sz="3400" dirty="0"/>
          </a:p>
          <a:p>
            <a:pPr algn="just">
              <a:spcAft>
                <a:spcPts val="1200"/>
              </a:spcAft>
            </a:pPr>
            <a:r>
              <a:rPr lang="en-US" sz="3400" dirty="0" smtClean="0"/>
              <a:t>By contrast, if most of the elements in a matrix are non-zero, then the matrix is considered dense.</a:t>
            </a:r>
          </a:p>
          <a:p>
            <a:pPr algn="just">
              <a:spcAft>
                <a:spcPts val="1200"/>
              </a:spcAft>
            </a:pPr>
            <a:endParaRPr lang="en-US" sz="3400" dirty="0" smtClean="0"/>
          </a:p>
          <a:p>
            <a:pPr marL="0" indent="0" algn="just">
              <a:spcAft>
                <a:spcPts val="1200"/>
              </a:spcAft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893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What Are Sparse Matrices?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US" sz="3400" dirty="0" smtClean="0"/>
              <a:t>There are no strict rules for the number of elements in a matrix that need to be zero in order to describe the matrix as sparse.</a:t>
            </a:r>
          </a:p>
          <a:p>
            <a:pPr marL="0" indent="0" algn="just">
              <a:spcAft>
                <a:spcPts val="1200"/>
              </a:spcAft>
              <a:buNone/>
            </a:pPr>
            <a:endParaRPr lang="en-US" sz="3200" dirty="0"/>
          </a:p>
          <a:p>
            <a:pPr algn="just">
              <a:spcAft>
                <a:spcPts val="1200"/>
              </a:spcAft>
            </a:pPr>
            <a:r>
              <a:rPr lang="en-US" sz="3400" dirty="0" smtClean="0"/>
              <a:t>The number of zero-valued entries in a matrix, divided by the total number of entries in that matrix, is referred to as the sparsity of that matrix.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287965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What Are Sparse Matrices?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5400" i="1" dirty="0" smtClean="0"/>
              <a:t>“In </a:t>
            </a:r>
            <a:r>
              <a:rPr lang="en-US" sz="5400" i="1" dirty="0"/>
              <a:t>practice, most large matrices are sparse — almost all entries are zeros</a:t>
            </a:r>
            <a:r>
              <a:rPr lang="en-US" sz="5400" i="1" dirty="0" smtClean="0"/>
              <a:t>.”</a:t>
            </a:r>
          </a:p>
          <a:p>
            <a:pPr marL="0" indent="0" algn="ctr">
              <a:spcAft>
                <a:spcPts val="1200"/>
              </a:spcAft>
              <a:buNone/>
            </a:pPr>
            <a:r>
              <a:rPr lang="en-US" sz="3200" i="1" dirty="0" smtClean="0"/>
              <a:t>- Dr. Gilbert </a:t>
            </a:r>
            <a:r>
              <a:rPr lang="en-US" sz="3200" i="1" dirty="0" err="1" smtClean="0"/>
              <a:t>Strang</a:t>
            </a:r>
            <a:r>
              <a:rPr lang="en-US" sz="3200" i="1" dirty="0" smtClean="0"/>
              <a:t>, Introduction to Linear Algebra, 5</a:t>
            </a:r>
            <a:r>
              <a:rPr lang="en-US" sz="3200" i="1" baseline="30000" dirty="0" smtClean="0"/>
              <a:t>th</a:t>
            </a:r>
            <a:r>
              <a:rPr lang="en-US" sz="3200" i="1" dirty="0" smtClean="0"/>
              <a:t> ed., Page 465.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93524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What Are Sparse Matrices?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20089" y="2456871"/>
                <a:ext cx="6757491" cy="20410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089" y="2456871"/>
                <a:ext cx="6757491" cy="20410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77146" y="5023141"/>
                <a:ext cx="4037708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𝑆𝑝𝑎𝑟𝑠𝑖𝑡𝑦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146" y="5023141"/>
                <a:ext cx="4037708" cy="9251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791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Storing A Sparse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US" sz="3400" dirty="0"/>
              <a:t>In the case of a sparse matrix, substantial memory requirement reductions can be realized by </a:t>
            </a:r>
            <a:r>
              <a:rPr lang="en-US" sz="3400" dirty="0" smtClean="0"/>
              <a:t>storing </a:t>
            </a:r>
            <a:r>
              <a:rPr lang="en-US" sz="3400" dirty="0"/>
              <a:t>the non-zero </a:t>
            </a:r>
            <a:r>
              <a:rPr lang="en-US" sz="3400" dirty="0" smtClean="0"/>
              <a:t>entries only.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95542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Storing A Sparse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US" sz="3400" dirty="0" smtClean="0"/>
              <a:t>Dictionary of Keys (DOK)</a:t>
            </a:r>
          </a:p>
          <a:p>
            <a:pPr algn="just">
              <a:spcAft>
                <a:spcPts val="1200"/>
              </a:spcAft>
            </a:pPr>
            <a:r>
              <a:rPr lang="en-US" sz="3400" dirty="0" smtClean="0"/>
              <a:t>List of Lists (LIL)</a:t>
            </a:r>
          </a:p>
          <a:p>
            <a:pPr algn="just">
              <a:spcAft>
                <a:spcPts val="1200"/>
              </a:spcAft>
            </a:pPr>
            <a:r>
              <a:rPr lang="en-US" sz="3400" dirty="0" smtClean="0"/>
              <a:t>Coordinate List (COO)</a:t>
            </a:r>
          </a:p>
          <a:p>
            <a:pPr algn="just">
              <a:spcAft>
                <a:spcPts val="1200"/>
              </a:spcAft>
            </a:pPr>
            <a:r>
              <a:rPr lang="en-US" sz="3400" dirty="0" smtClean="0"/>
              <a:t>Compressed Sparse Row (CSR)</a:t>
            </a:r>
          </a:p>
          <a:p>
            <a:pPr algn="just">
              <a:spcAft>
                <a:spcPts val="1200"/>
              </a:spcAft>
            </a:pPr>
            <a:r>
              <a:rPr lang="en-US" sz="3400" dirty="0" smtClean="0"/>
              <a:t>Compressed Sparse Column (CSC)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1511079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Dictionary of Keys (DOK)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US" sz="3400" dirty="0"/>
              <a:t>DOK consists of a dictionary that maps (</a:t>
            </a:r>
            <a:r>
              <a:rPr lang="en-US" sz="3400" dirty="0" smtClean="0"/>
              <a:t>row, column</a:t>
            </a:r>
            <a:r>
              <a:rPr lang="en-US" sz="3400" dirty="0"/>
              <a:t>)-pairs to the value of the elements</a:t>
            </a:r>
            <a:r>
              <a:rPr lang="en-US" sz="3400" dirty="0" smtClean="0"/>
              <a:t>.</a:t>
            </a:r>
          </a:p>
          <a:p>
            <a:pPr algn="just">
              <a:spcAft>
                <a:spcPts val="1200"/>
              </a:spcAft>
            </a:pPr>
            <a:endParaRPr lang="en-US" sz="3400" dirty="0"/>
          </a:p>
          <a:p>
            <a:pPr algn="just">
              <a:spcAft>
                <a:spcPts val="1200"/>
              </a:spcAft>
            </a:pPr>
            <a:r>
              <a:rPr lang="en-US" sz="3400" dirty="0"/>
              <a:t>Elements that are missing from the dictionary are taken to be zero.</a:t>
            </a:r>
          </a:p>
        </p:txBody>
      </p:sp>
    </p:spTree>
    <p:extLst>
      <p:ext uri="{BB962C8B-B14F-4D97-AF65-F5344CB8AC3E}">
        <p14:creationId xmlns:p14="http://schemas.microsoft.com/office/powerpoint/2010/main" val="395559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Dictionary of Keys (DOK)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20089" y="2456871"/>
                <a:ext cx="6757491" cy="20410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089" y="2456871"/>
                <a:ext cx="6757491" cy="20410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500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Dictionary of Keys (DOK)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016057" y="2922111"/>
                <a:ext cx="215988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1, 1</m:t>
                          </m:r>
                        </m:e>
                      </m:d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 →30</m:t>
                      </m:r>
                    </m:oMath>
                  </m:oMathPara>
                </a14:m>
                <a:endParaRPr lang="en-US" sz="3200" b="0" dirty="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057" y="2922111"/>
                <a:ext cx="2159886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016057" y="2400855"/>
                <a:ext cx="215988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 →20</m:t>
                      </m:r>
                    </m:oMath>
                  </m:oMathPara>
                </a14:m>
                <a:endParaRPr lang="en-US" sz="3200" b="0" dirty="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057" y="2400855"/>
                <a:ext cx="2159886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16057" y="1879600"/>
                <a:ext cx="215988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0, 0</m:t>
                          </m:r>
                        </m:e>
                      </m:d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 →10</m:t>
                      </m:r>
                    </m:oMath>
                  </m:oMathPara>
                </a14:m>
                <a:endParaRPr lang="en-US" sz="3200" b="0" dirty="0" smtClean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057" y="1879600"/>
                <a:ext cx="2159886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16057" y="3443366"/>
                <a:ext cx="215988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1, 3</m:t>
                          </m:r>
                        </m:e>
                      </m:d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 →40</m:t>
                      </m:r>
                    </m:oMath>
                  </m:oMathPara>
                </a14:m>
                <a:endParaRPr lang="en-US" sz="3200" b="0" dirty="0" smtClean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057" y="3443366"/>
                <a:ext cx="2159886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016057" y="3964621"/>
                <a:ext cx="215988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2, 2</m:t>
                          </m:r>
                        </m:e>
                      </m:d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 →50</m:t>
                      </m:r>
                    </m:oMath>
                  </m:oMathPara>
                </a14:m>
                <a:endParaRPr lang="en-US" sz="3200" b="0" dirty="0" smtClean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057" y="3964621"/>
                <a:ext cx="2159886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016057" y="4485876"/>
                <a:ext cx="215988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2, 3</m:t>
                          </m:r>
                        </m:e>
                      </m:d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 →60</m:t>
                      </m:r>
                    </m:oMath>
                  </m:oMathPara>
                </a14:m>
                <a:endParaRPr lang="en-US" sz="3200" b="0" dirty="0" smtClean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057" y="4485876"/>
                <a:ext cx="2159886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016057" y="5007131"/>
                <a:ext cx="215988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2, 4</m:t>
                          </m:r>
                        </m:e>
                      </m:d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 →70</m:t>
                      </m:r>
                    </m:oMath>
                  </m:oMathPara>
                </a14:m>
                <a:endParaRPr lang="en-US" sz="3200" b="0" dirty="0" smtClean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057" y="5007131"/>
                <a:ext cx="2159886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016057" y="5528386"/>
                <a:ext cx="215988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3, 5</m:t>
                          </m:r>
                        </m:e>
                      </m:d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 →80</m:t>
                      </m:r>
                    </m:oMath>
                  </m:oMathPara>
                </a14:m>
                <a:endParaRPr lang="en-US" sz="3200" b="0" dirty="0" smtClean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057" y="5528386"/>
                <a:ext cx="2159886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873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List of Lists (LIL)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US" sz="3400" dirty="0"/>
              <a:t>LIL stores one list per row, with each entry containing the column index and the value</a:t>
            </a:r>
            <a:r>
              <a:rPr lang="en-US" sz="3400" dirty="0" smtClean="0"/>
              <a:t>.</a:t>
            </a:r>
          </a:p>
          <a:p>
            <a:pPr algn="just">
              <a:spcAft>
                <a:spcPts val="1200"/>
              </a:spcAft>
            </a:pPr>
            <a:endParaRPr lang="en-US" sz="3400" dirty="0"/>
          </a:p>
          <a:p>
            <a:pPr algn="just">
              <a:spcAft>
                <a:spcPts val="1200"/>
              </a:spcAft>
            </a:pPr>
            <a:r>
              <a:rPr lang="en-US" sz="3400" dirty="0"/>
              <a:t>Typically, these entries </a:t>
            </a:r>
            <a:r>
              <a:rPr lang="en-US" sz="3400" dirty="0" smtClean="0"/>
              <a:t>are </a:t>
            </a:r>
            <a:r>
              <a:rPr lang="en-US" sz="3400" dirty="0"/>
              <a:t>sorted by column index for faster </a:t>
            </a:r>
            <a:r>
              <a:rPr lang="en-US" sz="3400" dirty="0" smtClean="0"/>
              <a:t>lookup.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213399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List of Lists (LIL)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20089" y="2456871"/>
                <a:ext cx="6757491" cy="20410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089" y="2456871"/>
                <a:ext cx="6757491" cy="20410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704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List of Lists (LIL)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28895" y="3177309"/>
                <a:ext cx="7884466" cy="10868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  <m:t>0, 10</m:t>
                                      </m:r>
                                    </m:e>
                                  </m:d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d>
                                    <m:dPr>
                                      <m:ctrlP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  <m:t>1, 20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  <m:t>1, 30</m:t>
                                      </m:r>
                                    </m:e>
                                  </m:d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d>
                                    <m:dPr>
                                      <m:ctrlP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  <m:t>3, 40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  <m:t>2, 50</m:t>
                                      </m:r>
                                    </m:e>
                                  </m:d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d>
                                    <m:dPr>
                                      <m:ctrlP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  <m:t>3, 60</m:t>
                                      </m:r>
                                    </m:e>
                                  </m:d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d>
                                    <m:dPr>
                                      <m:ctrlP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  <m:t>4, 70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b="0" i="1" smtClean="0">
                                          <a:latin typeface="Cambria Math" panose="02040503050406030204" pitchFamily="18" charset="0"/>
                                        </a:rPr>
                                        <m:t>5, 80</m:t>
                                      </m:r>
                                    </m:e>
                                  </m:d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895" y="3177309"/>
                <a:ext cx="7884466" cy="10868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0985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Coordinate List (COO)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US" sz="3400" dirty="0" smtClean="0"/>
              <a:t>COO maintains a list of row indices, a list of column indices, and a list of values for the non-zero entries in a sparse matrix.</a:t>
            </a:r>
          </a:p>
          <a:p>
            <a:pPr algn="just">
              <a:spcAft>
                <a:spcPts val="1200"/>
              </a:spcAft>
            </a:pPr>
            <a:endParaRPr lang="en-US" sz="3400" dirty="0"/>
          </a:p>
          <a:p>
            <a:pPr algn="just">
              <a:spcAft>
                <a:spcPts val="1200"/>
              </a:spcAft>
            </a:pPr>
            <a:r>
              <a:rPr lang="en-US" sz="3400" dirty="0" smtClean="0"/>
              <a:t>The entries of the matrix </a:t>
            </a:r>
            <a:r>
              <a:rPr lang="en-US" sz="3400" dirty="0"/>
              <a:t>are sorted first by row index and then by column index, to improve random access </a:t>
            </a:r>
            <a:r>
              <a:rPr lang="en-US" sz="3400" dirty="0" smtClean="0"/>
              <a:t>time.</a:t>
            </a:r>
          </a:p>
          <a:p>
            <a:pPr algn="just">
              <a:spcAft>
                <a:spcPts val="1200"/>
              </a:spcAft>
            </a:pPr>
            <a:endParaRPr lang="en-US" sz="3400" dirty="0" smtClean="0"/>
          </a:p>
          <a:p>
            <a:pPr algn="just">
              <a:spcAft>
                <a:spcPts val="1200"/>
              </a:spcAft>
            </a:pPr>
            <a:endParaRPr lang="en-US" sz="3400" dirty="0"/>
          </a:p>
          <a:p>
            <a:pPr algn="just">
              <a:spcAft>
                <a:spcPts val="1200"/>
              </a:spcAft>
            </a:pP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340804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Coordinate List (COO)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20089" y="2456871"/>
                <a:ext cx="6757491" cy="20410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089" y="2456871"/>
                <a:ext cx="6757491" cy="20410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935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Coordinate List (COO)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45951" y="2669401"/>
                <a:ext cx="738606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𝑉𝐴𝐿𝑆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=[10, 20, 30, 40, 50, 60, 70, 80]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951" y="2669401"/>
                <a:ext cx="7386061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32751" y="4359925"/>
                <a:ext cx="556825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𝑅𝑂𝑊𝑆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=[0, 0, 1, 1, 2, 2, 2, 3]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751" y="4359925"/>
                <a:ext cx="556825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245951" y="3526118"/>
                <a:ext cx="535505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𝐶𝑂𝐿𝑆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=[0, 1, 1, 3, 2, 3, 4, 5]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951" y="3526118"/>
                <a:ext cx="535505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3667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 smtClean="0"/>
              <a:t>Compressed Sparse Row (CSR)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US" sz="3400" dirty="0"/>
              <a:t>The compressed sparse row (CSR) </a:t>
            </a:r>
            <a:r>
              <a:rPr lang="en-US" sz="3400" dirty="0" smtClean="0"/>
              <a:t>format represents </a:t>
            </a:r>
            <a:r>
              <a:rPr lang="en-US" sz="3400" dirty="0"/>
              <a:t>a </a:t>
            </a:r>
            <a:r>
              <a:rPr lang="en-US" sz="3400" dirty="0" smtClean="0"/>
              <a:t>matrix </a:t>
            </a:r>
            <a:r>
              <a:rPr lang="en-US" sz="3400" dirty="0"/>
              <a:t>by three </a:t>
            </a:r>
            <a:r>
              <a:rPr lang="en-US" sz="3400" dirty="0" smtClean="0"/>
              <a:t>lists, </a:t>
            </a:r>
            <a:r>
              <a:rPr lang="en-US" sz="3400" dirty="0"/>
              <a:t>that respectively </a:t>
            </a:r>
            <a:r>
              <a:rPr lang="en-US" sz="3400" dirty="0" smtClean="0"/>
              <a:t>contain </a:t>
            </a:r>
            <a:r>
              <a:rPr lang="en-US" sz="3400" dirty="0"/>
              <a:t>values, the extents of rows, and column </a:t>
            </a:r>
            <a:r>
              <a:rPr lang="en-US" sz="3400" dirty="0" smtClean="0"/>
              <a:t>indices for the non-zero entries.</a:t>
            </a:r>
          </a:p>
          <a:p>
            <a:pPr algn="just">
              <a:spcAft>
                <a:spcPts val="1200"/>
              </a:spcAft>
            </a:pPr>
            <a:endParaRPr lang="en-US" sz="3400" dirty="0"/>
          </a:p>
          <a:p>
            <a:pPr algn="just">
              <a:spcAft>
                <a:spcPts val="1200"/>
              </a:spcAft>
            </a:pPr>
            <a:r>
              <a:rPr lang="en-US" sz="3400" dirty="0"/>
              <a:t>It is similar to COO, but compresses the row indices, hence the name.</a:t>
            </a:r>
          </a:p>
          <a:p>
            <a:pPr algn="just">
              <a:spcAft>
                <a:spcPts val="1200"/>
              </a:spcAft>
            </a:pPr>
            <a:endParaRPr lang="en-US" sz="3400" dirty="0"/>
          </a:p>
          <a:p>
            <a:pPr algn="just">
              <a:spcAft>
                <a:spcPts val="1200"/>
              </a:spcAft>
            </a:pP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3940312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/>
              <a:t>Compressed Sparse Row (CSR)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20089" y="2456871"/>
                <a:ext cx="6757491" cy="20410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70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089" y="2456871"/>
                <a:ext cx="6757491" cy="20410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841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 algn="ctr"/>
            <a:r>
              <a:rPr lang="en-US" dirty="0"/>
              <a:t>Compressed Sparse Row (CSR)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45951" y="2669401"/>
                <a:ext cx="738606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𝑉𝐴𝐿𝑆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=[10, 20, 30, 40, 50, 60, 70, 80]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951" y="2669401"/>
                <a:ext cx="7386061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032751" y="4359925"/>
                <a:ext cx="428905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𝑅𝑂𝑊𝑆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=[0, 2, 4, 7, 8]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751" y="4359925"/>
                <a:ext cx="4289059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245951" y="3526118"/>
                <a:ext cx="535505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𝐶𝑂𝐿𝑆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=[0, 1, 1, 3, 2, 3, 4, 5]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951" y="3526118"/>
                <a:ext cx="535505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6473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688</Words>
  <Application>Microsoft Office PowerPoint</Application>
  <PresentationFormat>Widescreen</PresentationFormat>
  <Paragraphs>88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Office Theme</vt:lpstr>
      <vt:lpstr>Sparse Matrices</vt:lpstr>
      <vt:lpstr>Let’s State A Problem</vt:lpstr>
      <vt:lpstr>Let’s State A Problem</vt:lpstr>
      <vt:lpstr>Let’s State A Problem</vt:lpstr>
      <vt:lpstr>Let’s State A Problem</vt:lpstr>
      <vt:lpstr>Let’s State A Problem</vt:lpstr>
      <vt:lpstr>What Are Sparse Matrices?</vt:lpstr>
      <vt:lpstr>What Are Sparse Matrices?</vt:lpstr>
      <vt:lpstr>What Are Sparse Matrices?</vt:lpstr>
      <vt:lpstr>What Are Sparse Matrices?</vt:lpstr>
      <vt:lpstr>Storing A Sparse Matrix</vt:lpstr>
      <vt:lpstr>Storing A Sparse Matrix</vt:lpstr>
      <vt:lpstr>Dictionary of Keys (DOK)</vt:lpstr>
      <vt:lpstr>Dictionary of Keys (DOK)</vt:lpstr>
      <vt:lpstr>Dictionary of Keys (DOK)</vt:lpstr>
      <vt:lpstr>List of Lists (LIL)</vt:lpstr>
      <vt:lpstr>List of Lists (LIL)</vt:lpstr>
      <vt:lpstr>List of Lists (LIL)</vt:lpstr>
      <vt:lpstr>Coordinate List (COO)</vt:lpstr>
      <vt:lpstr>Coordinate List (COO)</vt:lpstr>
      <vt:lpstr>Coordinate List (COO)</vt:lpstr>
      <vt:lpstr>Compressed Sparse Row (CSR)</vt:lpstr>
      <vt:lpstr>Compressed Sparse Row (CSR)</vt:lpstr>
      <vt:lpstr>Compressed Sparse Row (CSR)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Sparse Matrices</dc:title>
  <dc:creator>Ali</dc:creator>
  <cp:lastModifiedBy>Ali</cp:lastModifiedBy>
  <cp:revision>98</cp:revision>
  <dcterms:created xsi:type="dcterms:W3CDTF">2021-06-03T12:43:58Z</dcterms:created>
  <dcterms:modified xsi:type="dcterms:W3CDTF">2021-06-07T04:37:26Z</dcterms:modified>
</cp:coreProperties>
</file>